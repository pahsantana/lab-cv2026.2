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6858000" cx="12192000"/>
  <p:notesSz cx="6858000" cy="9144000"/>
  <p:embeddedFontLst>
    <p:embeddedFont>
      <p:font typeface="Plus Jakarta Sans ExtraBold"/>
      <p:bold r:id="rId21"/>
      <p:boldItalic r:id="rId22"/>
    </p:embeddedFont>
    <p:embeddedFont>
      <p:font typeface="Inter SemiBold"/>
      <p:regular r:id="rId23"/>
      <p:bold r:id="rId24"/>
      <p:italic r:id="rId25"/>
      <p:boldItalic r:id="rId26"/>
    </p:embeddedFont>
    <p:embeddedFont>
      <p:font typeface="Inter"/>
      <p:regular r:id="rId27"/>
      <p:bold r:id="rId28"/>
      <p:italic r:id="rId29"/>
      <p:boldItalic r:id="rId30"/>
    </p:embeddedFont>
    <p:embeddedFont>
      <p:font typeface="Plus Jakarta Sans"/>
      <p:regular r:id="rId31"/>
      <p:bold r:id="rId32"/>
      <p:italic r:id="rId33"/>
      <p:boldItalic r:id="rId34"/>
    </p:embeddedFont>
    <p:embeddedFont>
      <p:font typeface="Plus Jakarta Sans SemiBold"/>
      <p:regular r:id="rId35"/>
      <p:bold r:id="rId36"/>
      <p:italic r:id="rId37"/>
      <p:boldItalic r:id="rId38"/>
    </p:embeddedFont>
    <p:embeddedFont>
      <p:font typeface="Roboto Mono"/>
      <p:regular r:id="rId39"/>
      <p:bold r:id="rId40"/>
      <p:italic r:id="rId41"/>
      <p:boldItalic r:id="rId42"/>
    </p:embeddedFont>
    <p:embeddedFont>
      <p:font typeface="Inter Medium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9323202-4CFE-4187-9247-4E3E6D2A29D7}">
  <a:tblStyle styleId="{B9323202-4CFE-4187-9247-4E3E6D2A29D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Mono-bold.fntdata"/><Relationship Id="rId20" Type="http://schemas.openxmlformats.org/officeDocument/2006/relationships/slide" Target="slides/slide14.xml"/><Relationship Id="rId42" Type="http://schemas.openxmlformats.org/officeDocument/2006/relationships/font" Target="fonts/RobotoMono-boldItalic.fntdata"/><Relationship Id="rId41" Type="http://schemas.openxmlformats.org/officeDocument/2006/relationships/font" Target="fonts/RobotoMono-italic.fntdata"/><Relationship Id="rId22" Type="http://schemas.openxmlformats.org/officeDocument/2006/relationships/font" Target="fonts/PlusJakartaSansExtraBold-boldItalic.fntdata"/><Relationship Id="rId44" Type="http://schemas.openxmlformats.org/officeDocument/2006/relationships/font" Target="fonts/InterMedium-bold.fntdata"/><Relationship Id="rId21" Type="http://schemas.openxmlformats.org/officeDocument/2006/relationships/font" Target="fonts/PlusJakartaSansExtraBold-bold.fntdata"/><Relationship Id="rId43" Type="http://schemas.openxmlformats.org/officeDocument/2006/relationships/font" Target="fonts/InterMedium-regular.fntdata"/><Relationship Id="rId24" Type="http://schemas.openxmlformats.org/officeDocument/2006/relationships/font" Target="fonts/InterSemiBold-bold.fntdata"/><Relationship Id="rId46" Type="http://schemas.openxmlformats.org/officeDocument/2006/relationships/font" Target="fonts/InterMedium-boldItalic.fntdata"/><Relationship Id="rId23" Type="http://schemas.openxmlformats.org/officeDocument/2006/relationships/font" Target="fonts/InterSemiBold-regular.fntdata"/><Relationship Id="rId45" Type="http://schemas.openxmlformats.org/officeDocument/2006/relationships/font" Target="fonts/InterMedium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SemiBold-boldItalic.fntdata"/><Relationship Id="rId25" Type="http://schemas.openxmlformats.org/officeDocument/2006/relationships/font" Target="fonts/InterSemiBold-italic.fntdata"/><Relationship Id="rId28" Type="http://schemas.openxmlformats.org/officeDocument/2006/relationships/font" Target="fonts/Inter-bold.fntdata"/><Relationship Id="rId27" Type="http://schemas.openxmlformats.org/officeDocument/2006/relationships/font" Target="fonts/Inter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lusJakartaSans-regular.fntdata"/><Relationship Id="rId30" Type="http://schemas.openxmlformats.org/officeDocument/2006/relationships/font" Target="fonts/Inter-boldItalic.fntdata"/><Relationship Id="rId11" Type="http://schemas.openxmlformats.org/officeDocument/2006/relationships/slide" Target="slides/slide5.xml"/><Relationship Id="rId33" Type="http://schemas.openxmlformats.org/officeDocument/2006/relationships/font" Target="fonts/PlusJakartaSans-italic.fntdata"/><Relationship Id="rId10" Type="http://schemas.openxmlformats.org/officeDocument/2006/relationships/slide" Target="slides/slide4.xml"/><Relationship Id="rId32" Type="http://schemas.openxmlformats.org/officeDocument/2006/relationships/font" Target="fonts/PlusJakartaSans-bold.fntdata"/><Relationship Id="rId13" Type="http://schemas.openxmlformats.org/officeDocument/2006/relationships/slide" Target="slides/slide7.xml"/><Relationship Id="rId35" Type="http://schemas.openxmlformats.org/officeDocument/2006/relationships/font" Target="fonts/PlusJakartaSansSemiBold-regular.fntdata"/><Relationship Id="rId12" Type="http://schemas.openxmlformats.org/officeDocument/2006/relationships/slide" Target="slides/slide6.xml"/><Relationship Id="rId34" Type="http://schemas.openxmlformats.org/officeDocument/2006/relationships/font" Target="fonts/PlusJakartaSans-boldItalic.fntdata"/><Relationship Id="rId15" Type="http://schemas.openxmlformats.org/officeDocument/2006/relationships/slide" Target="slides/slide9.xml"/><Relationship Id="rId37" Type="http://schemas.openxmlformats.org/officeDocument/2006/relationships/font" Target="fonts/PlusJakartaSansSemiBold-italic.fntdata"/><Relationship Id="rId14" Type="http://schemas.openxmlformats.org/officeDocument/2006/relationships/slide" Target="slides/slide8.xml"/><Relationship Id="rId36" Type="http://schemas.openxmlformats.org/officeDocument/2006/relationships/font" Target="fonts/PlusJakartaSansSemiBold-bold.fntdata"/><Relationship Id="rId17" Type="http://schemas.openxmlformats.org/officeDocument/2006/relationships/slide" Target="slides/slide11.xml"/><Relationship Id="rId39" Type="http://schemas.openxmlformats.org/officeDocument/2006/relationships/font" Target="fonts/RobotoMono-regular.fntdata"/><Relationship Id="rId16" Type="http://schemas.openxmlformats.org/officeDocument/2006/relationships/slide" Target="slides/slide10.xml"/><Relationship Id="rId38" Type="http://schemas.openxmlformats.org/officeDocument/2006/relationships/font" Target="fonts/PlusJakartaSansSemiBold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f7305596f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g3f7305596fc_0_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f7305596fc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g3f7305596fc_0_9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4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19.png"/><Relationship Id="rId10" Type="http://schemas.openxmlformats.org/officeDocument/2006/relationships/image" Target="../media/image18.png"/><Relationship Id="rId13" Type="http://schemas.openxmlformats.org/officeDocument/2006/relationships/image" Target="../media/image21.png"/><Relationship Id="rId1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5" Type="http://schemas.openxmlformats.org/officeDocument/2006/relationships/image" Target="../media/image22.png"/><Relationship Id="rId14" Type="http://schemas.openxmlformats.org/officeDocument/2006/relationships/image" Target="../media/image23.png"/><Relationship Id="rId17" Type="http://schemas.openxmlformats.org/officeDocument/2006/relationships/image" Target="../media/image25.png"/><Relationship Id="rId16" Type="http://schemas.openxmlformats.org/officeDocument/2006/relationships/image" Target="../media/image24.png"/><Relationship Id="rId5" Type="http://schemas.openxmlformats.org/officeDocument/2006/relationships/image" Target="../media/image13.png"/><Relationship Id="rId6" Type="http://schemas.openxmlformats.org/officeDocument/2006/relationships/image" Target="../media/image15.png"/><Relationship Id="rId18" Type="http://schemas.openxmlformats.org/officeDocument/2006/relationships/image" Target="../media/image26.png"/><Relationship Id="rId7" Type="http://schemas.openxmlformats.org/officeDocument/2006/relationships/image" Target="../media/image14.png"/><Relationship Id="rId8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7.png"/><Relationship Id="rId9" Type="http://schemas.openxmlformats.org/officeDocument/2006/relationships/image" Target="../media/image32.jpg"/><Relationship Id="rId5" Type="http://schemas.openxmlformats.org/officeDocument/2006/relationships/image" Target="../media/image28.png"/><Relationship Id="rId6" Type="http://schemas.openxmlformats.org/officeDocument/2006/relationships/image" Target="../media/image31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40.png"/><Relationship Id="rId10" Type="http://schemas.openxmlformats.org/officeDocument/2006/relationships/image" Target="../media/image38.png"/><Relationship Id="rId13" Type="http://schemas.openxmlformats.org/officeDocument/2006/relationships/image" Target="../media/image41.png"/><Relationship Id="rId12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33.png"/><Relationship Id="rId9" Type="http://schemas.openxmlformats.org/officeDocument/2006/relationships/image" Target="../media/image39.png"/><Relationship Id="rId15" Type="http://schemas.openxmlformats.org/officeDocument/2006/relationships/image" Target="../media/image45.png"/><Relationship Id="rId14" Type="http://schemas.openxmlformats.org/officeDocument/2006/relationships/image" Target="../media/image42.png"/><Relationship Id="rId16" Type="http://schemas.openxmlformats.org/officeDocument/2006/relationships/image" Target="../media/image44.jpg"/><Relationship Id="rId5" Type="http://schemas.openxmlformats.org/officeDocument/2006/relationships/image" Target="../media/image34.png"/><Relationship Id="rId6" Type="http://schemas.openxmlformats.org/officeDocument/2006/relationships/image" Target="../media/image36.png"/><Relationship Id="rId7" Type="http://schemas.openxmlformats.org/officeDocument/2006/relationships/image" Target="../media/image35.png"/><Relationship Id="rId8" Type="http://schemas.openxmlformats.org/officeDocument/2006/relationships/image" Target="../media/image37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53.png"/><Relationship Id="rId10" Type="http://schemas.openxmlformats.org/officeDocument/2006/relationships/image" Target="../media/image52.png"/><Relationship Id="rId12" Type="http://schemas.openxmlformats.org/officeDocument/2006/relationships/image" Target="../media/image5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Relationship Id="rId5" Type="http://schemas.openxmlformats.org/officeDocument/2006/relationships/image" Target="../media/image47.png"/><Relationship Id="rId6" Type="http://schemas.openxmlformats.org/officeDocument/2006/relationships/image" Target="../media/image49.png"/><Relationship Id="rId7" Type="http://schemas.openxmlformats.org/officeDocument/2006/relationships/image" Target="../media/image48.png"/><Relationship Id="rId8" Type="http://schemas.openxmlformats.org/officeDocument/2006/relationships/image" Target="../media/image5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49.png"/><Relationship Id="rId5" Type="http://schemas.openxmlformats.org/officeDocument/2006/relationships/image" Target="../media/image55.jpg"/><Relationship Id="rId6" Type="http://schemas.openxmlformats.org/officeDocument/2006/relationships/image" Target="../media/image5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49.png"/><Relationship Id="rId5" Type="http://schemas.openxmlformats.org/officeDocument/2006/relationships/image" Target="../media/image5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7.png"/><Relationship Id="rId4" Type="http://schemas.openxmlformats.org/officeDocument/2006/relationships/image" Target="../media/image58.png"/><Relationship Id="rId9" Type="http://schemas.openxmlformats.org/officeDocument/2006/relationships/image" Target="../media/image63.png"/><Relationship Id="rId5" Type="http://schemas.openxmlformats.org/officeDocument/2006/relationships/image" Target="../media/image59.png"/><Relationship Id="rId6" Type="http://schemas.openxmlformats.org/officeDocument/2006/relationships/image" Target="../media/image61.png"/><Relationship Id="rId7" Type="http://schemas.openxmlformats.org/officeDocument/2006/relationships/image" Target="../media/image60.png"/><Relationship Id="rId8" Type="http://schemas.openxmlformats.org/officeDocument/2006/relationships/image" Target="../media/image6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Relationship Id="rId6" Type="http://schemas.openxmlformats.org/officeDocument/2006/relationships/image" Target="../media/image66.png"/></Relationships>
</file>

<file path=ppt/slides/_rels/slide13.xml.rels><?xml version="1.0" encoding="UTF-8" standalone="yes"?><Relationships xmlns="http://schemas.openxmlformats.org/package/2006/relationships"><Relationship Id="rId10" Type="http://schemas.openxmlformats.org/officeDocument/2006/relationships/image" Target="../media/image7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9" Type="http://schemas.openxmlformats.org/officeDocument/2006/relationships/image" Target="../media/image71.png"/><Relationship Id="rId5" Type="http://schemas.openxmlformats.org/officeDocument/2006/relationships/image" Target="../media/image67.png"/><Relationship Id="rId6" Type="http://schemas.openxmlformats.org/officeDocument/2006/relationships/image" Target="../media/image68.png"/><Relationship Id="rId7" Type="http://schemas.openxmlformats.org/officeDocument/2006/relationships/image" Target="../media/image69.png"/><Relationship Id="rId8" Type="http://schemas.openxmlformats.org/officeDocument/2006/relationships/image" Target="../media/image7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73.png"/><Relationship Id="rId5" Type="http://schemas.openxmlformats.org/officeDocument/2006/relationships/image" Target="../media/image74.png"/><Relationship Id="rId6" Type="http://schemas.openxmlformats.org/officeDocument/2006/relationships/hyperlink" Target="https://pahsantana.github.io/LAB-CV2026.2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4494875"/>
            <a:ext cx="11125200" cy="190592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533400" y="1209675"/>
            <a:ext cx="10501312" cy="1139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00" u="none" cap="none" strike="noStrik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Sistema Inteligente de Monitoramento e Detecção de Quedas em Idosos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33400" y="2501205"/>
            <a:ext cx="10001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757675" y="4689350"/>
            <a:ext cx="6807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AUTORES</a:t>
            </a:r>
            <a:endParaRPr sz="2300"/>
          </a:p>
        </p:txBody>
      </p:sp>
      <p:sp>
        <p:nvSpPr>
          <p:cNvPr id="89" name="Google Shape;89;p13"/>
          <p:cNvSpPr txBox="1"/>
          <p:nvPr/>
        </p:nvSpPr>
        <p:spPr>
          <a:xfrm>
            <a:off x="8178700" y="4966538"/>
            <a:ext cx="31656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UFABC</a:t>
            </a:r>
            <a:endParaRPr sz="1700"/>
          </a:p>
        </p:txBody>
      </p:sp>
      <p:sp>
        <p:nvSpPr>
          <p:cNvPr id="90" name="Google Shape;90;p13"/>
          <p:cNvSpPr txBox="1"/>
          <p:nvPr/>
        </p:nvSpPr>
        <p:spPr>
          <a:xfrm>
            <a:off x="8178700" y="5373850"/>
            <a:ext cx="316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Universidade Federal do ABC </a:t>
            </a:r>
            <a:endParaRPr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Agosto de 2026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757675" y="5167575"/>
            <a:ext cx="2622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Eduarda A. de Salles</a:t>
            </a:r>
            <a:endParaRPr b="0" i="0" sz="1450" u="none" cap="none" strike="noStrike">
              <a:solidFill>
                <a:srgbClr val="1E293B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</a:t>
            </a:r>
            <a:r>
              <a:rPr b="0" i="0" lang="en-US" sz="14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RA: 11202320551</a:t>
            </a:r>
            <a:endParaRPr sz="1800"/>
          </a:p>
        </p:txBody>
      </p:sp>
      <p:sp>
        <p:nvSpPr>
          <p:cNvPr id="92" name="Google Shape;92;p13"/>
          <p:cNvSpPr txBox="1"/>
          <p:nvPr/>
        </p:nvSpPr>
        <p:spPr>
          <a:xfrm>
            <a:off x="3227125" y="5167575"/>
            <a:ext cx="1868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Gustavo de P. Souza</a:t>
            </a:r>
            <a:r>
              <a:rPr b="0" i="0" lang="en-US" sz="1050" u="none" cap="none" strike="noStrik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</a:t>
            </a:r>
            <a:endParaRPr b="0" i="0" sz="1050" u="none" cap="none" strike="noStrike">
              <a:solidFill>
                <a:srgbClr val="1E293B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RA: 11202130568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5676325" y="5167575"/>
            <a:ext cx="21909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Paloma C. Santana </a:t>
            </a:r>
            <a:endParaRPr b="0" i="0" sz="1450" u="none" cap="none" strike="noStrike">
              <a:solidFill>
                <a:srgbClr val="1E293B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RA: 11201921396</a:t>
            </a:r>
            <a:endParaRPr sz="14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8" name="Google Shape;9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1114425"/>
            <a:ext cx="5410200" cy="5286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48400" y="1114425"/>
            <a:ext cx="5410200" cy="5286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3400" y="528625"/>
            <a:ext cx="381000" cy="38562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6524550" y="1907550"/>
            <a:ext cx="48579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Impacto Pessoal Direto: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O projeto nasceu da vivência prática com históricos familiares graves:</a:t>
            </a:r>
            <a:endParaRPr sz="1700"/>
          </a:p>
        </p:txBody>
      </p:sp>
      <p:pic>
        <p:nvPicPr>
          <p:cNvPr descr="image.png" id="103" name="Google Shape;103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3000" y="137955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1133475" y="1336050"/>
            <a:ext cx="39726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5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Cenário Populacional e Riscos</a:t>
            </a:r>
            <a:endParaRPr sz="1800"/>
          </a:p>
        </p:txBody>
      </p:sp>
      <p:sp>
        <p:nvSpPr>
          <p:cNvPr id="105" name="Google Shape;105;p14"/>
          <p:cNvSpPr txBox="1"/>
          <p:nvPr/>
        </p:nvSpPr>
        <p:spPr>
          <a:xfrm>
            <a:off x="1000125" y="1809750"/>
            <a:ext cx="46674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Envelhecimento Acelerado:</a:t>
            </a:r>
            <a:r>
              <a:rPr b="0" i="0" lang="en-US" sz="16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Estima-se que 29% da população da União Europeia terá 65+ anos até 2050.</a:t>
            </a:r>
            <a:endParaRPr sz="1800"/>
          </a:p>
        </p:txBody>
      </p:sp>
      <p:sp>
        <p:nvSpPr>
          <p:cNvPr id="106" name="Google Shape;106;p14"/>
          <p:cNvSpPr txBox="1"/>
          <p:nvPr/>
        </p:nvSpPr>
        <p:spPr>
          <a:xfrm>
            <a:off x="914400" y="2381250"/>
            <a:ext cx="85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1000125" y="2895600"/>
            <a:ext cx="46674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Problema de Saúde Pública:</a:t>
            </a:r>
            <a:r>
              <a:rPr b="0" i="0" lang="en-US" sz="16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As quedas representam a 2ª principal causa de mortes por lesões não intencionais no mundo.</a:t>
            </a:r>
            <a:endParaRPr sz="1800"/>
          </a:p>
        </p:txBody>
      </p:sp>
      <p:sp>
        <p:nvSpPr>
          <p:cNvPr id="108" name="Google Shape;108;p14"/>
          <p:cNvSpPr txBox="1"/>
          <p:nvPr/>
        </p:nvSpPr>
        <p:spPr>
          <a:xfrm>
            <a:off x="1000125" y="3981450"/>
            <a:ext cx="4667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Alta Incidência:</a:t>
            </a:r>
            <a:r>
              <a:rPr b="0" i="0" lang="en-US" sz="16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Estatisticamente, 1 em cada 4 idosos sofre ao menos uma queda por ano.</a:t>
            </a:r>
            <a:endParaRPr sz="1800"/>
          </a:p>
        </p:txBody>
      </p:sp>
      <p:pic>
        <p:nvPicPr>
          <p:cNvPr descr="image.png" id="109" name="Google Shape;109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24625" y="1409700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4"/>
          <p:cNvSpPr txBox="1"/>
          <p:nvPr/>
        </p:nvSpPr>
        <p:spPr>
          <a:xfrm>
            <a:off x="6877050" y="1390650"/>
            <a:ext cx="45054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Motivação Real e Familiar da Paloma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6629400" y="2381250"/>
            <a:ext cx="85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6619800" y="2687275"/>
            <a:ext cx="46674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Avô (89 anos):</a:t>
            </a:r>
            <a:r>
              <a:rPr b="0" i="0" lang="en-US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Fratura grave de fêmur dividida em 4 partes.</a:t>
            </a:r>
            <a:endParaRPr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3" name="Google Shape;113;p14"/>
          <p:cNvSpPr txBox="1"/>
          <p:nvPr/>
        </p:nvSpPr>
        <p:spPr>
          <a:xfrm>
            <a:off x="6629400" y="2686050"/>
            <a:ext cx="85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6619800" y="3337250"/>
            <a:ext cx="46674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Avó (80 anos):</a:t>
            </a:r>
            <a:r>
              <a:rPr b="0" i="0" lang="en-US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Quedas recorrentes, mieloma e demora no socorro.</a:t>
            </a:r>
            <a:endParaRPr sz="1600"/>
          </a:p>
        </p:txBody>
      </p:sp>
      <p:sp>
        <p:nvSpPr>
          <p:cNvPr id="115" name="Google Shape;115;p14"/>
          <p:cNvSpPr txBox="1"/>
          <p:nvPr/>
        </p:nvSpPr>
        <p:spPr>
          <a:xfrm>
            <a:off x="6629400" y="2990850"/>
            <a:ext cx="85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6619800" y="4090350"/>
            <a:ext cx="4667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Membros com 90, 93 e 102 anos:</a:t>
            </a:r>
            <a:r>
              <a:rPr b="0" i="0" lang="en-US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Necessidade premente de monitoramento contínuo sem perda de autonomia.</a:t>
            </a:r>
            <a:endParaRPr sz="1600"/>
          </a:p>
        </p:txBody>
      </p:sp>
      <p:sp>
        <p:nvSpPr>
          <p:cNvPr id="117" name="Google Shape;117;p14"/>
          <p:cNvSpPr txBox="1"/>
          <p:nvPr/>
        </p:nvSpPr>
        <p:spPr>
          <a:xfrm>
            <a:off x="1031813" y="482775"/>
            <a:ext cx="11242800" cy="4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Contextualização e Motivação</a:t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2" name="Google Shape;12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528637"/>
            <a:ext cx="215651" cy="2857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4" name="Google Shape;124;p15"/>
          <p:cNvGraphicFramePr/>
          <p:nvPr/>
        </p:nvGraphicFramePr>
        <p:xfrm>
          <a:off x="542925" y="139440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{B9323202-4CFE-4187-9247-4E3E6D2A29D7}</a:tableStyleId>
              </a:tblPr>
              <a:tblGrid>
                <a:gridCol w="5553075"/>
                <a:gridCol w="5553075"/>
              </a:tblGrid>
              <a:tr h="90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25" u="none" cap="none" strike="noStrike">
                          <a:solidFill>
                            <a:srgbClr val="FFFFFF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Problemas das Soluções Atuais</a:t>
                      </a:r>
                      <a:endParaRPr sz="18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25" u="none" cap="none" strike="noStrike">
                          <a:solidFill>
                            <a:srgbClr val="FFFFFF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Nossa Solução </a:t>
                      </a:r>
                      <a:endParaRPr sz="18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63EB"/>
                    </a:solidFill>
                  </a:tcPr>
                </a:tc>
              </a:tr>
              <a:tr h="90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b="0" i="0" lang="en-US" sz="1450" u="none" cap="none" strike="noStrike">
                          <a:solidFill>
                            <a:srgbClr val="475569"/>
                          </a:solidFill>
                          <a:highlight>
                            <a:srgbClr val="F4CCCC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Dispositivos Vestíveis:</a:t>
                      </a:r>
                      <a:r>
                        <a:rPr b="0" i="0" lang="en-US" sz="14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Esquecidos frequentemente pelo idoso ou descarregados.</a:t>
                      </a:r>
                      <a:endParaRPr sz="1800"/>
                    </a:p>
                  </a:txBody>
                  <a:tcPr marT="25400" marB="25400" marR="63500" marL="2000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50" u="none" cap="none" strike="noStrike">
                          <a:solidFill>
                            <a:srgbClr val="475569"/>
                          </a:solidFill>
                          <a:highlight>
                            <a:srgbClr val="D9EAD3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 Monitoramento Passivo:</a:t>
                      </a:r>
                      <a:r>
                        <a:rPr b="0" i="0" lang="en-US" sz="14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Câmera fixa no ambiente, 100% sem contato.</a:t>
                      </a:r>
                      <a:endParaRPr sz="1800"/>
                    </a:p>
                  </a:txBody>
                  <a:tcPr marT="25400" marB="25400" marR="63500" marL="2190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15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b="0" i="0" lang="en-US" sz="1450" u="none" cap="none" strike="noStrike">
                          <a:solidFill>
                            <a:srgbClr val="475569"/>
                          </a:solidFill>
                          <a:highlight>
                            <a:srgbClr val="F4CCCC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Botões de Pânico:</a:t>
                      </a:r>
                      <a:r>
                        <a:rPr b="0" i="0" lang="en-US" sz="14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Inoperantes em caso de perda de consciência ou choque.</a:t>
                      </a:r>
                      <a:endParaRPr sz="1800"/>
                    </a:p>
                  </a:txBody>
                  <a:tcPr marT="25400" marB="25400" marR="63500" marL="2000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50" u="none" cap="none" strike="noStrike">
                          <a:solidFill>
                            <a:srgbClr val="475569"/>
                          </a:solidFill>
                          <a:highlight>
                            <a:srgbClr val="D9EAD3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 Detecção Automática:</a:t>
                      </a:r>
                      <a:r>
                        <a:rPr b="0" i="0" lang="en-US" sz="15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Acionamento de alerta imediato sem interação humana.</a:t>
                      </a:r>
                      <a:endParaRPr sz="1900"/>
                    </a:p>
                  </a:txBody>
                  <a:tcPr marT="25400" marB="25400" marR="63500" marL="2190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90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50" u="none" cap="none" strike="noStrike">
                          <a:solidFill>
                            <a:srgbClr val="475569"/>
                          </a:solidFill>
                          <a:highlight>
                            <a:srgbClr val="F4CCCC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 Processamento em Nuvem:</a:t>
                      </a:r>
                      <a:r>
                        <a:rPr b="0" i="0" lang="en-US" sz="14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Vulnerabilidade e invasão da privacidade do lar.</a:t>
                      </a:r>
                      <a:endParaRPr sz="1800"/>
                    </a:p>
                  </a:txBody>
                  <a:tcPr marT="25400" marB="25400" marR="63500" marL="2000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50" u="none" cap="none" strike="noStrike">
                          <a:solidFill>
                            <a:srgbClr val="475569"/>
                          </a:solidFill>
                          <a:highlight>
                            <a:srgbClr val="D9EAD3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 Edge Computing: </a:t>
                      </a:r>
                      <a:r>
                        <a:rPr b="0" i="0" lang="en-US" sz="14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Processamento local e imediato descarte da imagem.</a:t>
                      </a:r>
                      <a:endParaRPr sz="1800"/>
                    </a:p>
                  </a:txBody>
                  <a:tcPr marT="25400" marB="25400" marR="63500" marL="2190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08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b="0" i="0" lang="en-US" sz="1450" u="none" cap="none" strike="noStrike">
                          <a:solidFill>
                            <a:srgbClr val="475569"/>
                          </a:solidFill>
                          <a:highlight>
                            <a:srgbClr val="F4CCCC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Alta Latência:</a:t>
                      </a:r>
                      <a:r>
                        <a:rPr b="0" i="0" lang="en-US" sz="14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Retardo de 200 a 700 ms para resposta via servidor remoto.</a:t>
                      </a:r>
                      <a:endParaRPr sz="1800"/>
                    </a:p>
                  </a:txBody>
                  <a:tcPr marT="25400" marB="25400" marR="63500" marL="2000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b="0" i="0" lang="en-US" sz="1450" u="none" cap="none" strike="noStrike">
                          <a:solidFill>
                            <a:srgbClr val="475569"/>
                          </a:solidFill>
                          <a:highlight>
                            <a:srgbClr val="D9EAD3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Resposta Instantânea: </a:t>
                      </a:r>
                      <a:r>
                        <a:rPr b="0" i="0" lang="en-US" sz="14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Latência reduzida para &lt; 50 ms na borda.</a:t>
                      </a:r>
                      <a:endParaRPr sz="1800"/>
                    </a:p>
                  </a:txBody>
                  <a:tcPr marT="25400" marB="25400" marR="63500" marL="2190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25" name="Google Shape;125;p15"/>
          <p:cNvSpPr txBox="1"/>
          <p:nvPr/>
        </p:nvSpPr>
        <p:spPr>
          <a:xfrm>
            <a:off x="882401" y="457200"/>
            <a:ext cx="11309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Problema e Solução Proposta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882400" y="872705"/>
            <a:ext cx="10001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3B82F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Das Limitações à Inovação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1" name="Google Shape;13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5737200"/>
            <a:ext cx="11125200" cy="663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3400" y="528637"/>
            <a:ext cx="358526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533400" y="1114425"/>
            <a:ext cx="11125200" cy="6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Estudo qualitativo com </a:t>
            </a:r>
            <a:r>
              <a:rPr b="1" i="0" lang="en-US" sz="17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6 perfis estratégicos</a:t>
            </a:r>
            <a:r>
              <a:rPr b="0" i="0" lang="en-US" sz="17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(idosos entre 65 e 89 anos e familiares cuidadores) para validar requisitos funcionais e éticos do sistema.</a:t>
            </a:r>
            <a:endParaRPr sz="2000"/>
          </a:p>
        </p:txBody>
      </p:sp>
      <p:graphicFrame>
        <p:nvGraphicFramePr>
          <p:cNvPr id="135" name="Google Shape;135;p16"/>
          <p:cNvGraphicFramePr/>
          <p:nvPr/>
        </p:nvGraphicFramePr>
        <p:xfrm>
          <a:off x="533400" y="23526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{B9323202-4CFE-4187-9247-4E3E6D2A29D7}</a:tableStyleId>
              </a:tblPr>
              <a:tblGrid>
                <a:gridCol w="1657500"/>
                <a:gridCol w="2012750"/>
                <a:gridCol w="5103025"/>
                <a:gridCol w="2332875"/>
              </a:tblGrid>
              <a:tr h="519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FFFFFF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Entrevistado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FFFFFF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Perfil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FFFFFF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Maior Receio Identificado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FFFFFF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Aceitação do Sistema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519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Rosa Canova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Idosa (89 anos)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Cair da própria altura e ficar sem ajuda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Aprovado</a:t>
                      </a:r>
                      <a:endParaRPr sz="1700"/>
                    </a:p>
                  </a:txBody>
                  <a:tcPr marT="25400" marB="25400" marR="63500" marL="2190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9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Gileno Santana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Idoso (</a:t>
                      </a:r>
                      <a:r>
                        <a:rPr lang="en-US" sz="135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90</a:t>
                      </a: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anos)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Dificuldade de comunicação imediata após acidente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Aprovado</a:t>
                      </a:r>
                      <a:endParaRPr sz="1700"/>
                    </a:p>
                  </a:txBody>
                  <a:tcPr marT="25400" marB="25400" marR="63500" marL="2190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19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Edite Santana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Idosa (79 anos)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Sensação de vigilância constante e perda de privacidade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Aprovado </a:t>
                      </a:r>
                      <a:endParaRPr sz="1700"/>
                    </a:p>
                  </a:txBody>
                  <a:tcPr marT="25400" marB="25400" marR="63500" marL="2190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Edilza Silva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Cuidadora (65 anos)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Falta de monitoramento nos momentos em que está ausente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Aprovado</a:t>
                      </a:r>
                      <a:endParaRPr sz="1700"/>
                    </a:p>
                  </a:txBody>
                  <a:tcPr marT="25400" marB="25400" marR="63500" marL="2190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pic>
        <p:nvPicPr>
          <p:cNvPr descr="image.png" id="136" name="Google Shape;13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190899" y="5986450"/>
            <a:ext cx="235675" cy="23567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/>
          <p:nvPr/>
        </p:nvSpPr>
        <p:spPr>
          <a:xfrm>
            <a:off x="542925" y="2843212"/>
            <a:ext cx="16574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2200423" y="2843212"/>
            <a:ext cx="201275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4213175" y="2843212"/>
            <a:ext cx="510301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9316194" y="2843212"/>
            <a:ext cx="23328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542925" y="3367087"/>
            <a:ext cx="16574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2200423" y="3367087"/>
            <a:ext cx="201275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4213175" y="3367087"/>
            <a:ext cx="510301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9316194" y="3367087"/>
            <a:ext cx="23328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542925" y="3890962"/>
            <a:ext cx="16574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2200423" y="3890962"/>
            <a:ext cx="201275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/>
          <p:nvPr/>
        </p:nvSpPr>
        <p:spPr>
          <a:xfrm>
            <a:off x="4213175" y="3890962"/>
            <a:ext cx="510301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/>
          <p:nvPr/>
        </p:nvSpPr>
        <p:spPr>
          <a:xfrm>
            <a:off x="9316194" y="3890962"/>
            <a:ext cx="23328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6"/>
          <p:cNvSpPr/>
          <p:nvPr/>
        </p:nvSpPr>
        <p:spPr>
          <a:xfrm>
            <a:off x="542925" y="4414837"/>
            <a:ext cx="16574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2200423" y="4414837"/>
            <a:ext cx="201275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/>
          <p:nvPr/>
        </p:nvSpPr>
        <p:spPr>
          <a:xfrm>
            <a:off x="4213175" y="4414837"/>
            <a:ext cx="510301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6"/>
          <p:cNvSpPr/>
          <p:nvPr/>
        </p:nvSpPr>
        <p:spPr>
          <a:xfrm>
            <a:off x="9316194" y="4414837"/>
            <a:ext cx="23328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6"/>
          <p:cNvSpPr txBox="1"/>
          <p:nvPr/>
        </p:nvSpPr>
        <p:spPr>
          <a:xfrm>
            <a:off x="1025276" y="457200"/>
            <a:ext cx="11164989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Compreendendo os Usuários Finais</a:t>
            </a:r>
            <a:endParaRPr/>
          </a:p>
        </p:txBody>
      </p:sp>
      <p:sp>
        <p:nvSpPr>
          <p:cNvPr id="154" name="Google Shape;154;p16"/>
          <p:cNvSpPr/>
          <p:nvPr/>
        </p:nvSpPr>
        <p:spPr>
          <a:xfrm>
            <a:off x="9391325" y="2991650"/>
            <a:ext cx="1131300" cy="285900"/>
          </a:xfrm>
          <a:prstGeom prst="roundRect">
            <a:avLst>
              <a:gd fmla="val 50000" name="adj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38761D"/>
                </a:solidFill>
                <a:latin typeface="Calibri"/>
                <a:ea typeface="Calibri"/>
                <a:cs typeface="Calibri"/>
                <a:sym typeface="Calibri"/>
              </a:rPr>
              <a:t>Aprovado</a:t>
            </a:r>
            <a:endParaRPr b="1" sz="800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6"/>
          <p:cNvSpPr/>
          <p:nvPr/>
        </p:nvSpPr>
        <p:spPr>
          <a:xfrm>
            <a:off x="9391325" y="3490825"/>
            <a:ext cx="1131300" cy="285900"/>
          </a:xfrm>
          <a:prstGeom prst="roundRect">
            <a:avLst>
              <a:gd fmla="val 50000" name="adj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38761D"/>
                </a:solidFill>
                <a:latin typeface="Calibri"/>
                <a:ea typeface="Calibri"/>
                <a:cs typeface="Calibri"/>
                <a:sym typeface="Calibri"/>
              </a:rPr>
              <a:t>Aprovado</a:t>
            </a:r>
            <a:endParaRPr b="1" sz="800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6"/>
          <p:cNvSpPr/>
          <p:nvPr/>
        </p:nvSpPr>
        <p:spPr>
          <a:xfrm>
            <a:off x="9391325" y="4014700"/>
            <a:ext cx="1131300" cy="285900"/>
          </a:xfrm>
          <a:prstGeom prst="roundRect">
            <a:avLst>
              <a:gd fmla="val 50000" name="adj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38761D"/>
                </a:solidFill>
                <a:latin typeface="Calibri"/>
                <a:ea typeface="Calibri"/>
                <a:cs typeface="Calibri"/>
                <a:sym typeface="Calibri"/>
              </a:rPr>
              <a:t>Aprovado</a:t>
            </a:r>
            <a:endParaRPr b="1" sz="800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6"/>
          <p:cNvSpPr/>
          <p:nvPr/>
        </p:nvSpPr>
        <p:spPr>
          <a:xfrm>
            <a:off x="9391325" y="4531438"/>
            <a:ext cx="1131300" cy="285900"/>
          </a:xfrm>
          <a:prstGeom prst="roundRect">
            <a:avLst>
              <a:gd fmla="val 50000" name="adj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38761D"/>
                </a:solidFill>
                <a:latin typeface="Calibri"/>
                <a:ea typeface="Calibri"/>
                <a:cs typeface="Calibri"/>
                <a:sym typeface="Calibri"/>
              </a:rPr>
              <a:t>Aprovado</a:t>
            </a:r>
            <a:endParaRPr b="1" sz="800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2" name="Google Shape;16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04927" y="6057900"/>
            <a:ext cx="478214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3400" y="1114425"/>
            <a:ext cx="2638425" cy="4791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62325" y="1114425"/>
            <a:ext cx="2638425" cy="4791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91250" y="1114425"/>
            <a:ext cx="2638425" cy="4791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020175" y="1114425"/>
            <a:ext cx="2638425" cy="4791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33400" y="528637"/>
            <a:ext cx="320426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895427" y="6172200"/>
            <a:ext cx="10849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33425" y="135255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7"/>
          <p:cNvSpPr txBox="1"/>
          <p:nvPr/>
        </p:nvSpPr>
        <p:spPr>
          <a:xfrm>
            <a:off x="1242975" y="1485900"/>
            <a:ext cx="12798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5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Módulo 1</a:t>
            </a:r>
            <a:endParaRPr sz="1800"/>
          </a:p>
        </p:txBody>
      </p:sp>
      <p:sp>
        <p:nvSpPr>
          <p:cNvPr id="172" name="Google Shape;172;p17"/>
          <p:cNvSpPr txBox="1"/>
          <p:nvPr/>
        </p:nvSpPr>
        <p:spPr>
          <a:xfrm>
            <a:off x="809550" y="2056750"/>
            <a:ext cx="2067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Captura &amp; Calibração</a:t>
            </a:r>
            <a:endParaRPr sz="1800"/>
          </a:p>
        </p:txBody>
      </p:sp>
      <p:pic>
        <p:nvPicPr>
          <p:cNvPr descr="image.png" id="173" name="Google Shape;173;p1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562350" y="135255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7"/>
          <p:cNvSpPr txBox="1"/>
          <p:nvPr/>
        </p:nvSpPr>
        <p:spPr>
          <a:xfrm>
            <a:off x="4141650" y="1436925"/>
            <a:ext cx="12798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5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Módulo 2</a:t>
            </a:r>
            <a:endParaRPr sz="1800"/>
          </a:p>
        </p:txBody>
      </p:sp>
      <p:sp>
        <p:nvSpPr>
          <p:cNvPr id="175" name="Google Shape;175;p17"/>
          <p:cNvSpPr txBox="1"/>
          <p:nvPr/>
        </p:nvSpPr>
        <p:spPr>
          <a:xfrm>
            <a:off x="3704363" y="2056750"/>
            <a:ext cx="18591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Detecção Neural</a:t>
            </a:r>
            <a:endParaRPr sz="1800"/>
          </a:p>
        </p:txBody>
      </p:sp>
      <p:pic>
        <p:nvPicPr>
          <p:cNvPr descr="image.png" id="176" name="Google Shape;176;p1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391275" y="135255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7"/>
          <p:cNvSpPr txBox="1"/>
          <p:nvPr/>
        </p:nvSpPr>
        <p:spPr>
          <a:xfrm>
            <a:off x="7019481" y="1446450"/>
            <a:ext cx="11820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5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Módulo 3</a:t>
            </a:r>
            <a:endParaRPr sz="1800"/>
          </a:p>
        </p:txBody>
      </p:sp>
      <p:sp>
        <p:nvSpPr>
          <p:cNvPr id="178" name="Google Shape;178;p17"/>
          <p:cNvSpPr txBox="1"/>
          <p:nvPr/>
        </p:nvSpPr>
        <p:spPr>
          <a:xfrm>
            <a:off x="6476963" y="2056749"/>
            <a:ext cx="2067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Estimativa de Postura</a:t>
            </a:r>
            <a:endParaRPr sz="1800"/>
          </a:p>
        </p:txBody>
      </p:sp>
      <p:pic>
        <p:nvPicPr>
          <p:cNvPr descr="image.png" id="179" name="Google Shape;179;p1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220200" y="135255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7"/>
          <p:cNvSpPr txBox="1"/>
          <p:nvPr/>
        </p:nvSpPr>
        <p:spPr>
          <a:xfrm>
            <a:off x="9799500" y="1462100"/>
            <a:ext cx="15702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5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Módulo 4</a:t>
            </a:r>
            <a:endParaRPr sz="1800"/>
          </a:p>
        </p:txBody>
      </p:sp>
      <p:sp>
        <p:nvSpPr>
          <p:cNvPr id="181" name="Google Shape;181;p17"/>
          <p:cNvSpPr txBox="1"/>
          <p:nvPr/>
        </p:nvSpPr>
        <p:spPr>
          <a:xfrm>
            <a:off x="9315438" y="2064650"/>
            <a:ext cx="24384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Análise </a:t>
            </a:r>
            <a:r>
              <a:rPr b="1" lang="en-US" sz="145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e </a:t>
            </a:r>
            <a:r>
              <a:rPr b="1" lang="en-US" sz="145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Classificação</a:t>
            </a:r>
            <a:endParaRPr sz="1800"/>
          </a:p>
        </p:txBody>
      </p:sp>
      <p:pic>
        <p:nvPicPr>
          <p:cNvPr descr="image.png" id="182" name="Google Shape;182;p17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852487" y="1485900"/>
            <a:ext cx="2190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7"/>
          <p:cNvSpPr txBox="1"/>
          <p:nvPr/>
        </p:nvSpPr>
        <p:spPr>
          <a:xfrm>
            <a:off x="828675" y="2528381"/>
            <a:ext cx="76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4" name="Google Shape;184;p17"/>
          <p:cNvSpPr txBox="1"/>
          <p:nvPr/>
        </p:nvSpPr>
        <p:spPr>
          <a:xfrm>
            <a:off x="904875" y="2526952"/>
            <a:ext cx="2067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Câmera Monocular</a:t>
            </a:r>
            <a:r>
              <a:rPr lang="en-US" sz="13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700"/>
          </a:p>
        </p:txBody>
      </p:sp>
      <p:sp>
        <p:nvSpPr>
          <p:cNvPr id="185" name="Google Shape;185;p17"/>
          <p:cNvSpPr txBox="1"/>
          <p:nvPr/>
        </p:nvSpPr>
        <p:spPr>
          <a:xfrm>
            <a:off x="828675" y="2778859"/>
            <a:ext cx="76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6" name="Google Shape;186;p17"/>
          <p:cNvSpPr txBox="1"/>
          <p:nvPr/>
        </p:nvSpPr>
        <p:spPr>
          <a:xfrm>
            <a:off x="904875" y="2777430"/>
            <a:ext cx="2067000" cy="8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Calibração de Zhang para correção de distorção de lente.</a:t>
            </a:r>
            <a:endParaRPr sz="13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187" name="Google Shape;187;p17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3695700" y="1485900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7"/>
          <p:cNvSpPr txBox="1"/>
          <p:nvPr/>
        </p:nvSpPr>
        <p:spPr>
          <a:xfrm>
            <a:off x="3657600" y="2528381"/>
            <a:ext cx="76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9" name="Google Shape;189;p17"/>
          <p:cNvSpPr txBox="1"/>
          <p:nvPr/>
        </p:nvSpPr>
        <p:spPr>
          <a:xfrm>
            <a:off x="3733800" y="2526950"/>
            <a:ext cx="2237700" cy="5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Modelo SSDLite320-MobileNetV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3.</a:t>
            </a:r>
            <a:endParaRPr sz="1700"/>
          </a:p>
        </p:txBody>
      </p:sp>
      <p:sp>
        <p:nvSpPr>
          <p:cNvPr id="190" name="Google Shape;190;p17"/>
          <p:cNvSpPr txBox="1"/>
          <p:nvPr/>
        </p:nvSpPr>
        <p:spPr>
          <a:xfrm flipH="1" rot="10800000">
            <a:off x="3642593" y="3192708"/>
            <a:ext cx="76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91" name="Google Shape;191;p17"/>
          <p:cNvSpPr txBox="1"/>
          <p:nvPr/>
        </p:nvSpPr>
        <p:spPr>
          <a:xfrm>
            <a:off x="3748213" y="3217308"/>
            <a:ext cx="2067000" cy="5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</a:t>
            </a:r>
            <a:r>
              <a:rPr lang="en-US" sz="13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onfiança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mínima de detecção: 0,65.</a:t>
            </a:r>
            <a:endParaRPr sz="1700"/>
          </a:p>
        </p:txBody>
      </p:sp>
      <p:pic>
        <p:nvPicPr>
          <p:cNvPr descr="image.png" id="192" name="Google Shape;192;p17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6534150" y="1485900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7"/>
          <p:cNvSpPr txBox="1"/>
          <p:nvPr/>
        </p:nvSpPr>
        <p:spPr>
          <a:xfrm>
            <a:off x="6391613" y="2526950"/>
            <a:ext cx="2237700" cy="8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-314325" lvl="0" marL="45720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Inter"/>
              <a:buChar char="●"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Extração da Bounding Box (largura x altura).</a:t>
            </a:r>
            <a:endParaRPr sz="1700"/>
          </a:p>
        </p:txBody>
      </p:sp>
      <p:sp>
        <p:nvSpPr>
          <p:cNvPr id="194" name="Google Shape;194;p17"/>
          <p:cNvSpPr txBox="1"/>
          <p:nvPr/>
        </p:nvSpPr>
        <p:spPr>
          <a:xfrm>
            <a:off x="6486525" y="2972186"/>
            <a:ext cx="76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7"/>
          <p:cNvSpPr txBox="1"/>
          <p:nvPr/>
        </p:nvSpPr>
        <p:spPr>
          <a:xfrm>
            <a:off x="3562688" y="3591350"/>
            <a:ext cx="2237700" cy="2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50" u="none" cap="none" strike="noStrike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1625" lvl="0" marL="45720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Inter"/>
              <a:buChar char="●"/>
            </a:pPr>
            <a:r>
              <a:rPr lang="en-US" sz="11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Regra de decisão multicritério (janela temporal de 1,55s e regra de 3 de 4 parâmetros críticos para evitar falsos positivos em AVDs como agachar/sentar). </a:t>
            </a:r>
            <a:endParaRPr sz="11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196" name="Google Shape;196;p17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9377362" y="1485900"/>
            <a:ext cx="1428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7"/>
          <p:cNvSpPr txBox="1"/>
          <p:nvPr/>
        </p:nvSpPr>
        <p:spPr>
          <a:xfrm>
            <a:off x="9220202" y="2542750"/>
            <a:ext cx="2438400" cy="5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-314325" lvl="0" marL="45720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Inter"/>
              <a:buChar char="●"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Cálculo de parâmetros </a:t>
            </a:r>
            <a:r>
              <a:rPr lang="en-US" sz="13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cinemáticos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700"/>
          </a:p>
        </p:txBody>
      </p:sp>
      <p:sp>
        <p:nvSpPr>
          <p:cNvPr id="198" name="Google Shape;198;p17"/>
          <p:cNvSpPr txBox="1"/>
          <p:nvPr/>
        </p:nvSpPr>
        <p:spPr>
          <a:xfrm>
            <a:off x="9315450" y="2972186"/>
            <a:ext cx="76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7"/>
          <p:cNvSpPr txBox="1"/>
          <p:nvPr/>
        </p:nvSpPr>
        <p:spPr>
          <a:xfrm>
            <a:off x="9205702" y="3174450"/>
            <a:ext cx="2438400" cy="5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-314325" lvl="0" marL="45720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Inter"/>
              <a:buChar char="●"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Regra de pontuação temporal/espacial.</a:t>
            </a:r>
            <a:endParaRPr sz="1700"/>
          </a:p>
        </p:txBody>
      </p:sp>
      <p:sp>
        <p:nvSpPr>
          <p:cNvPr id="200" name="Google Shape;200;p17"/>
          <p:cNvSpPr txBox="1"/>
          <p:nvPr/>
        </p:nvSpPr>
        <p:spPr>
          <a:xfrm>
            <a:off x="987176" y="457200"/>
            <a:ext cx="11204823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Arquitetura em 4 Módulos</a:t>
            </a:r>
            <a:endParaRPr/>
          </a:p>
        </p:txBody>
      </p:sp>
      <p:sp>
        <p:nvSpPr>
          <p:cNvPr id="201" name="Google Shape;201;p17"/>
          <p:cNvSpPr txBox="1"/>
          <p:nvPr/>
        </p:nvSpPr>
        <p:spPr>
          <a:xfrm>
            <a:off x="0" y="0"/>
            <a:ext cx="30000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</a:endParaRPr>
          </a:p>
        </p:txBody>
      </p:sp>
      <p:sp>
        <p:nvSpPr>
          <p:cNvPr id="202" name="Google Shape;202;p17"/>
          <p:cNvSpPr txBox="1"/>
          <p:nvPr/>
        </p:nvSpPr>
        <p:spPr>
          <a:xfrm>
            <a:off x="733775" y="3452050"/>
            <a:ext cx="2237700" cy="18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lang="en-US" sz="13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Parâmetros intrínsecos da câmera (resolução 640x480):</a:t>
            </a:r>
            <a:endParaRPr sz="13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3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 K = [689.76, 0, 319.46; 0, 690.22, 244.24; 0, 0, 1]</a:t>
            </a:r>
            <a:endParaRPr sz="13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 D = [0.0894, -1.1127, 0.0011, -0.0014, 6.1250]</a:t>
            </a:r>
            <a:endParaRPr sz="13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3" name="Google Shape;203;p17"/>
          <p:cNvSpPr txBox="1"/>
          <p:nvPr/>
        </p:nvSpPr>
        <p:spPr>
          <a:xfrm>
            <a:off x="6391200" y="3521175"/>
            <a:ext cx="3000000" cy="6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4325" lvl="0" marL="45720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Inter"/>
              <a:buChar char="●"/>
            </a:pPr>
            <a:r>
              <a:rPr lang="en-US" sz="13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Altura de referência espacial.</a:t>
            </a:r>
            <a:endParaRPr sz="13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8" name="Google Shape;20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1094417"/>
            <a:ext cx="5481676" cy="15344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48400" y="1114425"/>
            <a:ext cx="5410200" cy="4465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3400" y="528637"/>
            <a:ext cx="282326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8"/>
          <p:cNvSpPr txBox="1"/>
          <p:nvPr/>
        </p:nvSpPr>
        <p:spPr>
          <a:xfrm>
            <a:off x="533400" y="2781300"/>
            <a:ext cx="5680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Limiares Críticos de Queda</a:t>
            </a:r>
            <a:endParaRPr sz="1700"/>
          </a:p>
        </p:txBody>
      </p:sp>
      <p:sp>
        <p:nvSpPr>
          <p:cNvPr id="212" name="Google Shape;212;p18"/>
          <p:cNvSpPr txBox="1"/>
          <p:nvPr/>
        </p:nvSpPr>
        <p:spPr>
          <a:xfrm>
            <a:off x="533400" y="8439150"/>
            <a:ext cx="54102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* Classificação de QUEDA confirmada se </a:t>
            </a:r>
            <a:r>
              <a:rPr b="1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≥ 3 critérios</a:t>
            </a:r>
            <a:r>
              <a:rPr b="0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forem atendidos simultaneamente.</a:t>
            </a:r>
            <a:endParaRPr/>
          </a:p>
        </p:txBody>
      </p:sp>
      <p:sp>
        <p:nvSpPr>
          <p:cNvPr id="213" name="Google Shape;213;p18"/>
          <p:cNvSpPr txBox="1"/>
          <p:nvPr/>
        </p:nvSpPr>
        <p:spPr>
          <a:xfrm>
            <a:off x="714375" y="1295400"/>
            <a:ext cx="5300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563E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Regra de Postura (Razão de Aspecto)</a:t>
            </a:r>
            <a:endParaRPr sz="1800"/>
          </a:p>
        </p:txBody>
      </p:sp>
      <p:pic>
        <p:nvPicPr>
          <p:cNvPr descr="image.png" id="214" name="Google Shape;214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4375" y="1552575"/>
            <a:ext cx="5048250" cy="8953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15" name="Google Shape;215;p18"/>
          <p:cNvGraphicFramePr/>
          <p:nvPr/>
        </p:nvGraphicFramePr>
        <p:xfrm>
          <a:off x="538088" y="313379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{B9323202-4CFE-4187-9247-4E3E6D2A29D7}</a:tableStyleId>
              </a:tblPr>
              <a:tblGrid>
                <a:gridCol w="3811500"/>
                <a:gridCol w="1579650"/>
              </a:tblGrid>
              <a:tr h="489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FFFFF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Parâmetro Cinemático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FFFFF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Limiar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489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Janela de Tempo (Δt)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≤ 3,5 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9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Deslocamento Vertical (Δy)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≥ 12 px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89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Velocidade Vertical (Vy)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≥ 8 px/s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9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Razão de Aspecto Final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≥ 0,82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pic>
        <p:nvPicPr>
          <p:cNvPr descr="image.png" id="216" name="Google Shape;216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14375" y="1323975"/>
            <a:ext cx="1905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8"/>
          <p:cNvSpPr/>
          <p:nvPr/>
        </p:nvSpPr>
        <p:spPr>
          <a:xfrm>
            <a:off x="547613" y="3624330"/>
            <a:ext cx="3811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8"/>
          <p:cNvSpPr/>
          <p:nvPr/>
        </p:nvSpPr>
        <p:spPr>
          <a:xfrm>
            <a:off x="4359101" y="3624330"/>
            <a:ext cx="15798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8"/>
          <p:cNvSpPr/>
          <p:nvPr/>
        </p:nvSpPr>
        <p:spPr>
          <a:xfrm>
            <a:off x="547613" y="4100580"/>
            <a:ext cx="3811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8"/>
          <p:cNvSpPr/>
          <p:nvPr/>
        </p:nvSpPr>
        <p:spPr>
          <a:xfrm>
            <a:off x="4359101" y="4100580"/>
            <a:ext cx="15798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8"/>
          <p:cNvSpPr/>
          <p:nvPr/>
        </p:nvSpPr>
        <p:spPr>
          <a:xfrm>
            <a:off x="547613" y="4576830"/>
            <a:ext cx="3811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8"/>
          <p:cNvSpPr/>
          <p:nvPr/>
        </p:nvSpPr>
        <p:spPr>
          <a:xfrm>
            <a:off x="4359101" y="4576830"/>
            <a:ext cx="15798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8"/>
          <p:cNvSpPr/>
          <p:nvPr/>
        </p:nvSpPr>
        <p:spPr>
          <a:xfrm>
            <a:off x="547613" y="5094008"/>
            <a:ext cx="3811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8"/>
          <p:cNvSpPr/>
          <p:nvPr/>
        </p:nvSpPr>
        <p:spPr>
          <a:xfrm>
            <a:off x="4359101" y="5094008"/>
            <a:ext cx="15798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8"/>
          <p:cNvSpPr txBox="1"/>
          <p:nvPr/>
        </p:nvSpPr>
        <p:spPr>
          <a:xfrm>
            <a:off x="949076" y="457200"/>
            <a:ext cx="11242923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Detecção Neural e Classificação</a:t>
            </a:r>
            <a:endParaRPr/>
          </a:p>
        </p:txBody>
      </p:sp>
      <p:sp>
        <p:nvSpPr>
          <p:cNvPr id="226" name="Google Shape;226;p18"/>
          <p:cNvSpPr/>
          <p:nvPr/>
        </p:nvSpPr>
        <p:spPr>
          <a:xfrm>
            <a:off x="3053850" y="5905505"/>
            <a:ext cx="6449100" cy="583500"/>
          </a:xfrm>
          <a:prstGeom prst="roundRect">
            <a:avLst>
              <a:gd fmla="val 16667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Regra: Queda se ≥ 3 critérios atendidos </a:t>
            </a:r>
            <a:endParaRPr b="1"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7" name="Google Shape;227;p18" title="Gemini_Generated_Image_lb7x4flb7x4flb7x.jpe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585750" y="1476375"/>
            <a:ext cx="4735501" cy="38337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2" name="Google Shape;23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1114425"/>
            <a:ext cx="11125200" cy="1114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3400" y="3524400"/>
            <a:ext cx="5410200" cy="2876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48400" y="3524400"/>
            <a:ext cx="5410200" cy="2876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33400" y="528637"/>
            <a:ext cx="358526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9"/>
          <p:cNvSpPr txBox="1"/>
          <p:nvPr/>
        </p:nvSpPr>
        <p:spPr>
          <a:xfrm>
            <a:off x="695325" y="1276350"/>
            <a:ext cx="108013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FLUXO DE PROCESSAMENTO LOCAL CONTÍNUO</a:t>
            </a:r>
            <a:endParaRPr/>
          </a:p>
        </p:txBody>
      </p:sp>
      <p:pic>
        <p:nvPicPr>
          <p:cNvPr descr="image.png" id="238" name="Google Shape;238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248025" y="173355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029325" y="173355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810625" y="1733550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19"/>
          <p:cNvSpPr txBox="1"/>
          <p:nvPr/>
        </p:nvSpPr>
        <p:spPr>
          <a:xfrm>
            <a:off x="998675" y="3805167"/>
            <a:ext cx="51006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95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Garantia de Privacidade</a:t>
            </a:r>
            <a:endParaRPr sz="1700"/>
          </a:p>
        </p:txBody>
      </p:sp>
      <p:sp>
        <p:nvSpPr>
          <p:cNvPr id="242" name="Google Shape;242;p19"/>
          <p:cNvSpPr txBox="1"/>
          <p:nvPr/>
        </p:nvSpPr>
        <p:spPr>
          <a:xfrm>
            <a:off x="809550" y="4500892"/>
            <a:ext cx="48579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Imagens brutas nunca saem do dispositivo e são descartadas no frame seguinte. Sem streaming ou armazenamento em servidores externos.</a:t>
            </a:r>
            <a:endParaRPr sz="1800"/>
          </a:p>
        </p:txBody>
      </p:sp>
      <p:sp>
        <p:nvSpPr>
          <p:cNvPr id="243" name="Google Shape;243;p19"/>
          <p:cNvSpPr txBox="1"/>
          <p:nvPr/>
        </p:nvSpPr>
        <p:spPr>
          <a:xfrm>
            <a:off x="6734725" y="3805173"/>
            <a:ext cx="51006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Baixa Latência &amp; Custo</a:t>
            </a:r>
            <a:endParaRPr sz="1700"/>
          </a:p>
        </p:txBody>
      </p:sp>
      <p:sp>
        <p:nvSpPr>
          <p:cNvPr id="244" name="Google Shape;244;p19"/>
          <p:cNvSpPr txBox="1"/>
          <p:nvPr/>
        </p:nvSpPr>
        <p:spPr>
          <a:xfrm>
            <a:off x="6524550" y="4396236"/>
            <a:ext cx="48579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Tempo de resposta de </a:t>
            </a:r>
            <a:r>
              <a:rPr b="1" i="0" lang="en-US" sz="16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&lt; 50 ms</a:t>
            </a:r>
            <a:r>
              <a:rPr b="0" i="0" lang="en-US" sz="16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vs</a:t>
            </a:r>
            <a:r>
              <a:rPr b="1" lang="en-US" sz="16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200-700 ms</a:t>
            </a:r>
            <a:r>
              <a:rPr lang="en-US" sz="16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em nuvem</a:t>
            </a:r>
            <a:r>
              <a:rPr b="0" i="0" lang="en-US" sz="16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 Economia estimada de até </a:t>
            </a:r>
            <a:r>
              <a:rPr b="1" i="0" lang="en-US" sz="16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61% em 3 anos</a:t>
            </a:r>
            <a:r>
              <a:rPr b="0" i="0" lang="en-US" sz="16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em comparação a custos de nuvem contínuos.</a:t>
            </a:r>
            <a:endParaRPr sz="1800"/>
          </a:p>
        </p:txBody>
      </p:sp>
      <p:pic>
        <p:nvPicPr>
          <p:cNvPr descr="image.png" id="245" name="Google Shape;245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862137" y="1676400"/>
            <a:ext cx="12382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6" name="Google Shape;246;p1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629150" y="1676400"/>
            <a:ext cx="1524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7" name="Google Shape;247;p1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434262" y="1676400"/>
            <a:ext cx="10477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1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215562" y="1676400"/>
            <a:ext cx="10477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19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09634" y="3850551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0" name="Google Shape;250;p19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517297" y="3850540"/>
            <a:ext cx="18097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9"/>
          <p:cNvSpPr txBox="1"/>
          <p:nvPr/>
        </p:nvSpPr>
        <p:spPr>
          <a:xfrm>
            <a:off x="1025276" y="457200"/>
            <a:ext cx="11164989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Privacidade e Edge Computing</a:t>
            </a:r>
            <a:endParaRPr/>
          </a:p>
        </p:txBody>
      </p:sp>
      <p:pic>
        <p:nvPicPr>
          <p:cNvPr descr="deixar todos os containers no mesmo tamanho" id="252" name="Google Shape;252;p19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513450" y="1071102"/>
            <a:ext cx="11165100" cy="2268000"/>
          </a:xfrm>
          <a:prstGeom prst="roundRect">
            <a:avLst>
              <a:gd fmla="val 900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7" name="Google Shape;25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10300" y="1935950"/>
            <a:ext cx="5448300" cy="3643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10325" y="4443412"/>
            <a:ext cx="5048250" cy="352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0" name="Google Shape;260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3400" y="528637"/>
            <a:ext cx="282326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0"/>
          <p:cNvSpPr txBox="1"/>
          <p:nvPr/>
        </p:nvSpPr>
        <p:spPr>
          <a:xfrm>
            <a:off x="6663175" y="2674901"/>
            <a:ext cx="34701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50" u="none" cap="none" strike="noStrike">
                <a:solidFill>
                  <a:srgbClr val="1E3A8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Detalhes do Teste T4 (Queda)</a:t>
            </a:r>
            <a:endParaRPr sz="1800"/>
          </a:p>
        </p:txBody>
      </p:sp>
      <p:graphicFrame>
        <p:nvGraphicFramePr>
          <p:cNvPr id="262" name="Google Shape;262;p20"/>
          <p:cNvGraphicFramePr/>
          <p:nvPr/>
        </p:nvGraphicFramePr>
        <p:xfrm>
          <a:off x="533400" y="193595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{B9323202-4CFE-4187-9247-4E3E6D2A29D7}</a:tableStyleId>
              </a:tblPr>
              <a:tblGrid>
                <a:gridCol w="824200"/>
                <a:gridCol w="2901400"/>
                <a:gridCol w="1703625"/>
              </a:tblGrid>
              <a:tr h="520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25" u="none" cap="none" strike="noStrike">
                          <a:solidFill>
                            <a:srgbClr val="FFFFFF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Teste</a:t>
                      </a:r>
                      <a:endParaRPr sz="16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25" u="none" cap="none" strike="noStrike">
                          <a:solidFill>
                            <a:srgbClr val="FFFFFF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Cenário Simulado</a:t>
                      </a:r>
                      <a:endParaRPr sz="16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25" u="none" cap="none" strike="noStrike">
                          <a:solidFill>
                            <a:srgbClr val="FFFFFF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Resultado</a:t>
                      </a:r>
                      <a:endParaRPr sz="16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520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T1</a:t>
                      </a:r>
                      <a:endParaRPr sz="16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Entrar em pé no campo de visão</a:t>
                      </a:r>
                      <a:endParaRPr sz="16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Sucesso</a:t>
                      </a:r>
                      <a:endParaRPr sz="16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0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T2</a:t>
                      </a:r>
                      <a:endParaRPr sz="16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Movimentos laterais </a:t>
                      </a:r>
                      <a:r>
                        <a:rPr lang="en-US" sz="125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em pé</a:t>
                      </a:r>
                      <a:endParaRPr sz="16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Sucesso</a:t>
                      </a:r>
                      <a:endParaRPr sz="16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20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T3</a:t>
                      </a:r>
                      <a:endParaRPr sz="16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Agachamento lento</a:t>
                      </a:r>
                      <a:endParaRPr sz="16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Sucesso</a:t>
                      </a:r>
                      <a:endParaRPr sz="16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0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T4</a:t>
                      </a:r>
                      <a:endParaRPr sz="16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Simulação real de queda repentina</a:t>
                      </a:r>
                      <a:endParaRPr sz="16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Queda D</a:t>
                      </a:r>
                      <a:endParaRPr sz="16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20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T5</a:t>
                      </a:r>
                      <a:endParaRPr sz="16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Retorno à posição em pé</a:t>
                      </a:r>
                      <a:endParaRPr sz="16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Sucesso</a:t>
                      </a:r>
                      <a:endParaRPr sz="16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0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T6</a:t>
                      </a:r>
                      <a:endParaRPr sz="16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Ausência temporária no ambiente</a:t>
                      </a:r>
                      <a:endParaRPr sz="16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Sucesso</a:t>
                      </a:r>
                      <a:endParaRPr sz="16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pic>
        <p:nvPicPr>
          <p:cNvPr descr="image.png" id="263" name="Google Shape;263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10325" y="2757487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0"/>
          <p:cNvSpPr txBox="1"/>
          <p:nvPr/>
        </p:nvSpPr>
        <p:spPr>
          <a:xfrm>
            <a:off x="6753225" y="3052762"/>
            <a:ext cx="4705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Duração:</a:t>
            </a:r>
            <a:r>
              <a:rPr b="0" i="0" lang="en-US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2,1 s (Limiar: ≤ 3,5 s)</a:t>
            </a:r>
            <a:endParaRPr sz="1600"/>
          </a:p>
        </p:txBody>
      </p:sp>
      <p:sp>
        <p:nvSpPr>
          <p:cNvPr id="265" name="Google Shape;265;p20"/>
          <p:cNvSpPr txBox="1"/>
          <p:nvPr/>
        </p:nvSpPr>
        <p:spPr>
          <a:xfrm>
            <a:off x="6753225" y="3376612"/>
            <a:ext cx="4705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Deslocamento:</a:t>
            </a:r>
            <a:r>
              <a:rPr b="0" i="0" lang="en-US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45 px (Limiar: ≥ 12 px)</a:t>
            </a:r>
            <a:endParaRPr sz="1600"/>
          </a:p>
        </p:txBody>
      </p:sp>
      <p:sp>
        <p:nvSpPr>
          <p:cNvPr id="266" name="Google Shape;266;p20"/>
          <p:cNvSpPr txBox="1"/>
          <p:nvPr/>
        </p:nvSpPr>
        <p:spPr>
          <a:xfrm>
            <a:off x="6753225" y="3700462"/>
            <a:ext cx="4705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Velocidade:</a:t>
            </a:r>
            <a:r>
              <a:rPr b="0" i="0" lang="en-US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21,4 px/s (Limiar: ≥ 8 px/s)</a:t>
            </a:r>
            <a:endParaRPr sz="1600"/>
          </a:p>
        </p:txBody>
      </p:sp>
      <p:sp>
        <p:nvSpPr>
          <p:cNvPr id="267" name="Google Shape;267;p20"/>
          <p:cNvSpPr txBox="1"/>
          <p:nvPr/>
        </p:nvSpPr>
        <p:spPr>
          <a:xfrm>
            <a:off x="6753225" y="4024312"/>
            <a:ext cx="4705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Razão de Aspecto:</a:t>
            </a:r>
            <a:r>
              <a:rPr b="0" i="0" lang="en-US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1,45 (Limiar: ≥ 0,82)</a:t>
            </a:r>
            <a:endParaRPr sz="1600"/>
          </a:p>
        </p:txBody>
      </p:sp>
      <p:sp>
        <p:nvSpPr>
          <p:cNvPr id="268" name="Google Shape;268;p20"/>
          <p:cNvSpPr/>
          <p:nvPr/>
        </p:nvSpPr>
        <p:spPr>
          <a:xfrm>
            <a:off x="542925" y="2426493"/>
            <a:ext cx="82421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0"/>
          <p:cNvSpPr/>
          <p:nvPr/>
        </p:nvSpPr>
        <p:spPr>
          <a:xfrm>
            <a:off x="1367135" y="2426493"/>
            <a:ext cx="290140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0"/>
          <p:cNvSpPr/>
          <p:nvPr/>
        </p:nvSpPr>
        <p:spPr>
          <a:xfrm>
            <a:off x="4268539" y="2426493"/>
            <a:ext cx="170363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0"/>
          <p:cNvSpPr/>
          <p:nvPr/>
        </p:nvSpPr>
        <p:spPr>
          <a:xfrm>
            <a:off x="542925" y="2950368"/>
            <a:ext cx="82421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0"/>
          <p:cNvSpPr/>
          <p:nvPr/>
        </p:nvSpPr>
        <p:spPr>
          <a:xfrm>
            <a:off x="1367135" y="2950368"/>
            <a:ext cx="290140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0"/>
          <p:cNvSpPr/>
          <p:nvPr/>
        </p:nvSpPr>
        <p:spPr>
          <a:xfrm>
            <a:off x="4268539" y="2950368"/>
            <a:ext cx="170363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0"/>
          <p:cNvSpPr/>
          <p:nvPr/>
        </p:nvSpPr>
        <p:spPr>
          <a:xfrm>
            <a:off x="542925" y="3474243"/>
            <a:ext cx="82421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0"/>
          <p:cNvSpPr/>
          <p:nvPr/>
        </p:nvSpPr>
        <p:spPr>
          <a:xfrm>
            <a:off x="1367135" y="3474243"/>
            <a:ext cx="290140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0"/>
          <p:cNvSpPr/>
          <p:nvPr/>
        </p:nvSpPr>
        <p:spPr>
          <a:xfrm>
            <a:off x="4268539" y="3474243"/>
            <a:ext cx="170363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0"/>
          <p:cNvSpPr/>
          <p:nvPr/>
        </p:nvSpPr>
        <p:spPr>
          <a:xfrm>
            <a:off x="542925" y="3998118"/>
            <a:ext cx="82421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0"/>
          <p:cNvSpPr/>
          <p:nvPr/>
        </p:nvSpPr>
        <p:spPr>
          <a:xfrm>
            <a:off x="1367135" y="3998118"/>
            <a:ext cx="290140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0"/>
          <p:cNvSpPr/>
          <p:nvPr/>
        </p:nvSpPr>
        <p:spPr>
          <a:xfrm>
            <a:off x="4268539" y="3998118"/>
            <a:ext cx="170363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0"/>
          <p:cNvSpPr/>
          <p:nvPr/>
        </p:nvSpPr>
        <p:spPr>
          <a:xfrm>
            <a:off x="542925" y="4521993"/>
            <a:ext cx="82421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0"/>
          <p:cNvSpPr/>
          <p:nvPr/>
        </p:nvSpPr>
        <p:spPr>
          <a:xfrm>
            <a:off x="1367135" y="4521993"/>
            <a:ext cx="290140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0"/>
          <p:cNvSpPr/>
          <p:nvPr/>
        </p:nvSpPr>
        <p:spPr>
          <a:xfrm>
            <a:off x="4268539" y="4521993"/>
            <a:ext cx="170363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0"/>
          <p:cNvSpPr/>
          <p:nvPr/>
        </p:nvSpPr>
        <p:spPr>
          <a:xfrm>
            <a:off x="542925" y="5045868"/>
            <a:ext cx="82421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0"/>
          <p:cNvSpPr/>
          <p:nvPr/>
        </p:nvSpPr>
        <p:spPr>
          <a:xfrm>
            <a:off x="1367135" y="5045868"/>
            <a:ext cx="290140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0"/>
          <p:cNvSpPr/>
          <p:nvPr/>
        </p:nvSpPr>
        <p:spPr>
          <a:xfrm>
            <a:off x="4268539" y="5045868"/>
            <a:ext cx="170363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86" name="Google Shape;286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10325" y="3071812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7" name="Google Shape;287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10325" y="3395662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8" name="Google Shape;288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10325" y="3719512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9" name="Google Shape;289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10325" y="4043362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0" name="Google Shape;290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306799" y="2569368"/>
            <a:ext cx="666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1" name="Google Shape;291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306799" y="3093243"/>
            <a:ext cx="666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2" name="Google Shape;292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306799" y="3617118"/>
            <a:ext cx="666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3" name="Google Shape;293;p2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306799" y="4140993"/>
            <a:ext cx="11334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4" name="Google Shape;294;p2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306799" y="4664868"/>
            <a:ext cx="666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5" name="Google Shape;295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306799" y="5188743"/>
            <a:ext cx="6667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20"/>
          <p:cNvSpPr txBox="1"/>
          <p:nvPr/>
        </p:nvSpPr>
        <p:spPr>
          <a:xfrm>
            <a:off x="949076" y="457200"/>
            <a:ext cx="11242923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Protocolo de Testes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1" name="Google Shape;30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2" name="Google Shape;30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528637"/>
            <a:ext cx="282326" cy="2857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03" name="Google Shape;303;p21"/>
          <p:cNvGraphicFramePr/>
          <p:nvPr/>
        </p:nvGraphicFramePr>
        <p:xfrm>
          <a:off x="949075" y="122236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{B9323202-4CFE-4187-9247-4E3E6D2A29D7}</a:tableStyleId>
              </a:tblPr>
              <a:tblGrid>
                <a:gridCol w="1903975"/>
                <a:gridCol w="3071350"/>
              </a:tblGrid>
              <a:tr h="571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25">
                          <a:solidFill>
                            <a:srgbClr val="FFFFFF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Voluntário</a:t>
                      </a:r>
                      <a:endParaRPr sz="16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25">
                          <a:solidFill>
                            <a:srgbClr val="FFFFFF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Pontuação SUS</a:t>
                      </a:r>
                      <a:endParaRPr sz="16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571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latin typeface="Inter"/>
                          <a:ea typeface="Inter"/>
                          <a:cs typeface="Inter"/>
                          <a:sym typeface="Inter"/>
                        </a:rPr>
                        <a:t>José Victor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latin typeface="Inter"/>
                          <a:ea typeface="Inter"/>
                          <a:cs typeface="Inter"/>
                          <a:sym typeface="Inter"/>
                        </a:rPr>
                        <a:t>90,0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1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latin typeface="Inter"/>
                          <a:ea typeface="Inter"/>
                          <a:cs typeface="Inter"/>
                          <a:sym typeface="Inter"/>
                        </a:rPr>
                        <a:t>Antõnio Carlos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latin typeface="Inter"/>
                          <a:ea typeface="Inter"/>
                          <a:cs typeface="Inter"/>
                          <a:sym typeface="Inter"/>
                        </a:rPr>
                        <a:t>95,0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71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latin typeface="Inter"/>
                          <a:ea typeface="Inter"/>
                          <a:cs typeface="Inter"/>
                          <a:sym typeface="Inter"/>
                        </a:rPr>
                        <a:t>Vinícius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latin typeface="Inter"/>
                          <a:ea typeface="Inter"/>
                          <a:cs typeface="Inter"/>
                          <a:sym typeface="Inter"/>
                        </a:rPr>
                        <a:t>97,5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1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latin typeface="Inter"/>
                          <a:ea typeface="Inter"/>
                          <a:cs typeface="Inter"/>
                          <a:sym typeface="Inter"/>
                        </a:rPr>
                        <a:t>Rafael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latin typeface="Inter"/>
                          <a:ea typeface="Inter"/>
                          <a:cs typeface="Inter"/>
                          <a:sym typeface="Inter"/>
                        </a:rPr>
                        <a:t>92,5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71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latin typeface="Inter"/>
                          <a:ea typeface="Inter"/>
                          <a:cs typeface="Inter"/>
                          <a:sym typeface="Inter"/>
                        </a:rPr>
                        <a:t>Ricardo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latin typeface="Inter"/>
                          <a:ea typeface="Inter"/>
                          <a:cs typeface="Inter"/>
                          <a:sym typeface="Inter"/>
                        </a:rPr>
                        <a:t>90,0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1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latin typeface="Inter"/>
                          <a:ea typeface="Inter"/>
                          <a:cs typeface="Inter"/>
                          <a:sym typeface="Inter"/>
                        </a:rPr>
                        <a:t>Leandro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latin typeface="Inter"/>
                          <a:ea typeface="Inter"/>
                          <a:cs typeface="Inter"/>
                          <a:sym typeface="Inter"/>
                        </a:rPr>
                        <a:t>97,5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71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latin typeface="Inter"/>
                          <a:ea typeface="Inter"/>
                          <a:cs typeface="Inter"/>
                          <a:sym typeface="Inter"/>
                        </a:rPr>
                        <a:t>Samira</a:t>
                      </a:r>
                      <a:endParaRPr sz="135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latin typeface="Inter"/>
                          <a:ea typeface="Inter"/>
                          <a:cs typeface="Inter"/>
                          <a:sym typeface="Inter"/>
                        </a:rPr>
                        <a:t>97,5</a:t>
                      </a:r>
                      <a:endParaRPr b="0" i="0" sz="135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71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5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Média</a:t>
                      </a:r>
                      <a:endParaRPr b="1" sz="1350">
                        <a:solidFill>
                          <a:srgbClr val="475569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5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94,29</a:t>
                      </a:r>
                      <a:endParaRPr b="1" i="0" sz="1350" u="none" cap="none" strike="noStrike">
                        <a:solidFill>
                          <a:srgbClr val="475569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304" name="Google Shape;304;p21"/>
          <p:cNvSpPr txBox="1"/>
          <p:nvPr/>
        </p:nvSpPr>
        <p:spPr>
          <a:xfrm>
            <a:off x="949076" y="457200"/>
            <a:ext cx="11242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Feedback </a:t>
            </a: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Testes - Avaliação SUS (Categoria A</a:t>
            </a:r>
            <a:r>
              <a:rPr b="1" lang="en-US" sz="27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+</a:t>
            </a: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)</a:t>
            </a:r>
            <a:endParaRPr b="1" i="0" sz="2700" u="none" cap="none" strike="noStrike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70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305" name="Google Shape;305;p21" title="Gemini_Generated_Image_qjr47aqjr47aqjr4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44650" y="1222375"/>
            <a:ext cx="4624176" cy="2878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21" title="Gemini_Generated_Image_4zmurd4zmurd4zmu.jpe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34275" y="4258785"/>
            <a:ext cx="4734549" cy="2102889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1"/>
          <p:cNvSpPr txBox="1"/>
          <p:nvPr/>
        </p:nvSpPr>
        <p:spPr>
          <a:xfrm>
            <a:off x="1844099" y="6361675"/>
            <a:ext cx="5317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highlight>
                  <a:srgbClr val="3B82F6"/>
                </a:highlight>
                <a:latin typeface="Plus Jakarta Sans"/>
                <a:ea typeface="Plus Jakarta Sans"/>
                <a:cs typeface="Plus Jakarta Sans"/>
                <a:sym typeface="Plus Jakarta Sans"/>
              </a:rPr>
              <a:t>Taxa de aceitação/favorabilidade </a:t>
            </a:r>
            <a:endParaRPr b="1" sz="300">
              <a:solidFill>
                <a:schemeClr val="dk1"/>
              </a:solidFill>
              <a:highlight>
                <a:srgbClr val="3B82F6"/>
              </a:highlight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2" name="Google Shape;31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3" name="Google Shape;31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528637"/>
            <a:ext cx="282326" cy="2857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14" name="Google Shape;314;p22"/>
          <p:cNvGraphicFramePr/>
          <p:nvPr/>
        </p:nvGraphicFramePr>
        <p:xfrm>
          <a:off x="815725" y="145426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{B9323202-4CFE-4187-9247-4E3E6D2A29D7}</a:tableStyleId>
              </a:tblPr>
              <a:tblGrid>
                <a:gridCol w="2063050"/>
                <a:gridCol w="3327950"/>
              </a:tblGrid>
              <a:tr h="731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25">
                          <a:solidFill>
                            <a:srgbClr val="FFFFFF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Parâmetro</a:t>
                      </a:r>
                      <a:endParaRPr sz="16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25">
                          <a:solidFill>
                            <a:srgbClr val="FFFFFF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Log</a:t>
                      </a:r>
                      <a:endParaRPr sz="16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731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latin typeface="Inter"/>
                          <a:ea typeface="Inter"/>
                          <a:cs typeface="Inter"/>
                          <a:sym typeface="Inter"/>
                        </a:rPr>
                        <a:t>Transição postural 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latin typeface="Inter"/>
                          <a:ea typeface="Inter"/>
                          <a:cs typeface="Inter"/>
                          <a:sym typeface="Inter"/>
                        </a:rPr>
                        <a:t>Em pé -&gt; agachado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1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latin typeface="Inter"/>
                          <a:ea typeface="Inter"/>
                          <a:cs typeface="Inter"/>
                          <a:sym typeface="Inter"/>
                        </a:rPr>
                        <a:t>Janela postural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latin typeface="Inter"/>
                          <a:ea typeface="Inter"/>
                          <a:cs typeface="Inter"/>
                          <a:sym typeface="Inter"/>
                        </a:rPr>
                        <a:t>1,55s (padrão)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731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latin typeface="Inter"/>
                          <a:ea typeface="Inter"/>
                          <a:cs typeface="Inter"/>
                          <a:sym typeface="Inter"/>
                        </a:rPr>
                        <a:t>Velocidade vertical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latin typeface="Inter"/>
                          <a:ea typeface="Inter"/>
                          <a:cs typeface="Inter"/>
                          <a:sym typeface="Inter"/>
                        </a:rPr>
                        <a:t>0 a 5500 px/s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1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latin typeface="Inter"/>
                          <a:ea typeface="Inter"/>
                          <a:cs typeface="Inter"/>
                          <a:sym typeface="Inter"/>
                        </a:rPr>
                        <a:t>Razão de aspecto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latin typeface="Inter"/>
                          <a:ea typeface="Inter"/>
                          <a:cs typeface="Inter"/>
                          <a:sym typeface="Inter"/>
                        </a:rPr>
                        <a:t>0,73-0,81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731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latin typeface="Inter"/>
                          <a:ea typeface="Inter"/>
                          <a:cs typeface="Inter"/>
                          <a:sym typeface="Inter"/>
                        </a:rPr>
                        <a:t>Confiança da detecção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latin typeface="Inter"/>
                          <a:ea typeface="Inter"/>
                          <a:cs typeface="Inter"/>
                          <a:sym typeface="Inter"/>
                        </a:rPr>
                        <a:t>0,88-0,99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315" name="Google Shape;315;p22"/>
          <p:cNvSpPr txBox="1"/>
          <p:nvPr/>
        </p:nvSpPr>
        <p:spPr>
          <a:xfrm>
            <a:off x="949076" y="457200"/>
            <a:ext cx="11242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Análise dos logs em csv</a:t>
            </a:r>
            <a:endParaRPr b="1" i="0" sz="2700" u="none" cap="none" strike="noStrike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70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descr="image.png" id="316" name="Google Shape;316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42675" y="1454275"/>
            <a:ext cx="4961650" cy="43869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2"/>
          <p:cNvSpPr txBox="1"/>
          <p:nvPr/>
        </p:nvSpPr>
        <p:spPr>
          <a:xfrm>
            <a:off x="6885100" y="1916018"/>
            <a:ext cx="32904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0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Principais Insights:</a:t>
            </a:r>
            <a:endParaRPr sz="1800"/>
          </a:p>
        </p:txBody>
      </p:sp>
      <p:sp>
        <p:nvSpPr>
          <p:cNvPr id="318" name="Google Shape;318;p22"/>
          <p:cNvSpPr txBox="1"/>
          <p:nvPr/>
        </p:nvSpPr>
        <p:spPr>
          <a:xfrm>
            <a:off x="6885100" y="2382300"/>
            <a:ext cx="44787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</a:t>
            </a:r>
            <a:r>
              <a:rPr lang="en-US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egra de decisão multicritério (janela temporal de 1,55 e regra de 3 de 4 parâmetros críticos para evitar falsos positivos em AVDs como agachar/sentar). - </a:t>
            </a:r>
            <a:r>
              <a:rPr b="1" lang="en-US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Essencial para estabilidade temporal</a:t>
            </a:r>
            <a:endParaRPr b="1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Pico de 5500 px/s </a:t>
            </a:r>
            <a:r>
              <a:rPr b="1" lang="en-US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NÃO</a:t>
            </a:r>
            <a:r>
              <a:rPr lang="en-US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gerou alarme falso (validação do multicritério)</a:t>
            </a:r>
            <a:endParaRPr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3" name="Google Shape;32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4" name="Google Shape;32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1114425"/>
            <a:ext cx="35814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5" name="Google Shape;325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05300" y="1114425"/>
            <a:ext cx="35814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6" name="Google Shape;326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77200" y="1114425"/>
            <a:ext cx="35814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7" name="Google Shape;327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33400" y="528637"/>
            <a:ext cx="244226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3"/>
          <p:cNvSpPr txBox="1"/>
          <p:nvPr/>
        </p:nvSpPr>
        <p:spPr>
          <a:xfrm>
            <a:off x="771525" y="1157288"/>
            <a:ext cx="3105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2563EB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100%</a:t>
            </a:r>
            <a:endParaRPr/>
          </a:p>
        </p:txBody>
      </p:sp>
      <p:sp>
        <p:nvSpPr>
          <p:cNvPr id="329" name="Google Shape;329;p23"/>
          <p:cNvSpPr txBox="1"/>
          <p:nvPr/>
        </p:nvSpPr>
        <p:spPr>
          <a:xfrm>
            <a:off x="910975" y="1729900"/>
            <a:ext cx="31053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Sensibilidade</a:t>
            </a:r>
            <a:endParaRPr sz="1700"/>
          </a:p>
        </p:txBody>
      </p:sp>
      <p:sp>
        <p:nvSpPr>
          <p:cNvPr id="330" name="Google Shape;330;p23"/>
          <p:cNvSpPr txBox="1"/>
          <p:nvPr/>
        </p:nvSpPr>
        <p:spPr>
          <a:xfrm>
            <a:off x="771525" y="2105025"/>
            <a:ext cx="31053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Todas as quedas foram detectadas</a:t>
            </a:r>
            <a:endParaRPr sz="1800"/>
          </a:p>
        </p:txBody>
      </p:sp>
      <p:sp>
        <p:nvSpPr>
          <p:cNvPr id="331" name="Google Shape;331;p23"/>
          <p:cNvSpPr txBox="1"/>
          <p:nvPr/>
        </p:nvSpPr>
        <p:spPr>
          <a:xfrm>
            <a:off x="4543350" y="1218375"/>
            <a:ext cx="3105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2563EB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85</a:t>
            </a:r>
            <a:r>
              <a:rPr b="0" i="0" lang="en-US" sz="3600" u="none" cap="none" strike="noStrike">
                <a:solidFill>
                  <a:srgbClr val="2563EB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%</a:t>
            </a:r>
            <a:endParaRPr/>
          </a:p>
        </p:txBody>
      </p:sp>
      <p:sp>
        <p:nvSpPr>
          <p:cNvPr id="332" name="Google Shape;332;p23"/>
          <p:cNvSpPr txBox="1"/>
          <p:nvPr/>
        </p:nvSpPr>
        <p:spPr>
          <a:xfrm>
            <a:off x="4543350" y="1722250"/>
            <a:ext cx="3105300" cy="2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25" u="none" cap="none" strike="noStrik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Especificidade</a:t>
            </a:r>
            <a:endParaRPr sz="1800"/>
          </a:p>
        </p:txBody>
      </p:sp>
      <p:sp>
        <p:nvSpPr>
          <p:cNvPr id="333" name="Google Shape;333;p23"/>
          <p:cNvSpPr txBox="1"/>
          <p:nvPr/>
        </p:nvSpPr>
        <p:spPr>
          <a:xfrm>
            <a:off x="4543425" y="2105025"/>
            <a:ext cx="31053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Zero falsos positivos registrados</a:t>
            </a:r>
            <a:endParaRPr sz="1800"/>
          </a:p>
        </p:txBody>
      </p:sp>
      <p:sp>
        <p:nvSpPr>
          <p:cNvPr id="334" name="Google Shape;334;p23"/>
          <p:cNvSpPr txBox="1"/>
          <p:nvPr/>
        </p:nvSpPr>
        <p:spPr>
          <a:xfrm>
            <a:off x="8315325" y="1352550"/>
            <a:ext cx="3105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2563EB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90</a:t>
            </a:r>
            <a:r>
              <a:rPr b="0" i="0" lang="en-US" sz="3600" u="none" cap="none" strike="noStrike">
                <a:solidFill>
                  <a:srgbClr val="2563EB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%</a:t>
            </a:r>
            <a:endParaRPr/>
          </a:p>
        </p:txBody>
      </p:sp>
      <p:sp>
        <p:nvSpPr>
          <p:cNvPr id="335" name="Google Shape;335;p23"/>
          <p:cNvSpPr txBox="1"/>
          <p:nvPr/>
        </p:nvSpPr>
        <p:spPr>
          <a:xfrm>
            <a:off x="8315325" y="1885950"/>
            <a:ext cx="31051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Precisão</a:t>
            </a:r>
            <a:endParaRPr/>
          </a:p>
        </p:txBody>
      </p:sp>
      <p:sp>
        <p:nvSpPr>
          <p:cNvPr id="336" name="Google Shape;336;p23"/>
          <p:cNvSpPr txBox="1"/>
          <p:nvPr/>
        </p:nvSpPr>
        <p:spPr>
          <a:xfrm>
            <a:off x="8315325" y="2105025"/>
            <a:ext cx="31053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Exatidão absoluta dos alertas</a:t>
            </a:r>
            <a:endParaRPr sz="1800"/>
          </a:p>
        </p:txBody>
      </p:sp>
      <p:pic>
        <p:nvPicPr>
          <p:cNvPr descr="image.png" id="337" name="Google Shape;337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71525" y="5478762"/>
            <a:ext cx="3048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8" name="Google Shape;338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45438" y="5642787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23"/>
          <p:cNvSpPr txBox="1"/>
          <p:nvPr/>
        </p:nvSpPr>
        <p:spPr>
          <a:xfrm>
            <a:off x="1319175" y="5131093"/>
            <a:ext cx="32904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5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Tempo de Processamento</a:t>
            </a:r>
            <a:endParaRPr sz="1800"/>
          </a:p>
        </p:txBody>
      </p:sp>
      <p:sp>
        <p:nvSpPr>
          <p:cNvPr id="340" name="Google Shape;340;p23"/>
          <p:cNvSpPr txBox="1"/>
          <p:nvPr/>
        </p:nvSpPr>
        <p:spPr>
          <a:xfrm>
            <a:off x="1319175" y="5541224"/>
            <a:ext cx="31053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~85 ms / frame</a:t>
            </a:r>
            <a:r>
              <a:rPr b="1" lang="en-US" sz="16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→ 11,7 FPS</a:t>
            </a:r>
            <a:endParaRPr sz="1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5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1" name="Google Shape;341;p23"/>
          <p:cNvSpPr txBox="1"/>
          <p:nvPr/>
        </p:nvSpPr>
        <p:spPr>
          <a:xfrm>
            <a:off x="1076325" y="6037225"/>
            <a:ext cx="4690200" cy="2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Totalmente compatível com execução em tempo real.</a:t>
            </a:r>
            <a:endParaRPr sz="1800"/>
          </a:p>
        </p:txBody>
      </p:sp>
      <p:sp>
        <p:nvSpPr>
          <p:cNvPr id="342" name="Google Shape;342;p23"/>
          <p:cNvSpPr txBox="1"/>
          <p:nvPr/>
        </p:nvSpPr>
        <p:spPr>
          <a:xfrm>
            <a:off x="6888350" y="5194043"/>
            <a:ext cx="39804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5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Latência de Borda</a:t>
            </a:r>
            <a:endParaRPr sz="1900"/>
          </a:p>
        </p:txBody>
      </p:sp>
      <p:sp>
        <p:nvSpPr>
          <p:cNvPr id="343" name="Google Shape;343;p23"/>
          <p:cNvSpPr txBox="1"/>
          <p:nvPr/>
        </p:nvSpPr>
        <p:spPr>
          <a:xfrm>
            <a:off x="7087850" y="5645906"/>
            <a:ext cx="3791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&lt; 50 ms</a:t>
            </a:r>
            <a:endParaRPr/>
          </a:p>
        </p:txBody>
      </p:sp>
      <p:sp>
        <p:nvSpPr>
          <p:cNvPr id="344" name="Google Shape;344;p23"/>
          <p:cNvSpPr txBox="1"/>
          <p:nvPr/>
        </p:nvSpPr>
        <p:spPr>
          <a:xfrm>
            <a:off x="6354625" y="6067175"/>
            <a:ext cx="5429400" cy="2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Desempenho significativamente superior a soluções em nuvem.</a:t>
            </a:r>
            <a:endParaRPr sz="1800"/>
          </a:p>
        </p:txBody>
      </p:sp>
      <p:sp>
        <p:nvSpPr>
          <p:cNvPr id="345" name="Google Shape;345;p23"/>
          <p:cNvSpPr txBox="1"/>
          <p:nvPr/>
        </p:nvSpPr>
        <p:spPr>
          <a:xfrm>
            <a:off x="910976" y="457200"/>
            <a:ext cx="11281023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Resultados Quantitativos</a:t>
            </a:r>
            <a:endParaRPr/>
          </a:p>
        </p:txBody>
      </p:sp>
      <p:pic>
        <p:nvPicPr>
          <p:cNvPr descr="image.png" id="346" name="Google Shape;34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19175" y="3122763"/>
            <a:ext cx="35814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7" name="Google Shape;34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92700" y="3234013"/>
            <a:ext cx="358140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23"/>
          <p:cNvSpPr txBox="1"/>
          <p:nvPr/>
        </p:nvSpPr>
        <p:spPr>
          <a:xfrm>
            <a:off x="1557225" y="3263088"/>
            <a:ext cx="3105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2563EB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94,73</a:t>
            </a:r>
            <a:r>
              <a:rPr b="0" i="0" lang="en-US" sz="3600" u="none" cap="none" strike="noStrike">
                <a:solidFill>
                  <a:srgbClr val="2563EB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%</a:t>
            </a:r>
            <a:endParaRPr/>
          </a:p>
        </p:txBody>
      </p:sp>
      <p:sp>
        <p:nvSpPr>
          <p:cNvPr id="349" name="Google Shape;349;p23"/>
          <p:cNvSpPr txBox="1"/>
          <p:nvPr/>
        </p:nvSpPr>
        <p:spPr>
          <a:xfrm>
            <a:off x="1557225" y="3876888"/>
            <a:ext cx="31053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F1-Score</a:t>
            </a:r>
            <a:endParaRPr sz="1700"/>
          </a:p>
        </p:txBody>
      </p:sp>
      <p:sp>
        <p:nvSpPr>
          <p:cNvPr id="350" name="Google Shape;350;p23"/>
          <p:cNvSpPr txBox="1"/>
          <p:nvPr/>
        </p:nvSpPr>
        <p:spPr>
          <a:xfrm>
            <a:off x="7325900" y="3326913"/>
            <a:ext cx="3105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2563EB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89</a:t>
            </a:r>
            <a:r>
              <a:rPr b="0" i="0" lang="en-US" sz="3600" u="none" cap="none" strike="noStrike">
                <a:solidFill>
                  <a:srgbClr val="2563EB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%</a:t>
            </a:r>
            <a:endParaRPr/>
          </a:p>
        </p:txBody>
      </p:sp>
      <p:sp>
        <p:nvSpPr>
          <p:cNvPr id="351" name="Google Shape;351;p23"/>
          <p:cNvSpPr txBox="1"/>
          <p:nvPr/>
        </p:nvSpPr>
        <p:spPr>
          <a:xfrm>
            <a:off x="8077200" y="3999138"/>
            <a:ext cx="31053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Acurácia Global</a:t>
            </a:r>
            <a:endParaRPr sz="1700"/>
          </a:p>
        </p:txBody>
      </p:sp>
      <p:sp>
        <p:nvSpPr>
          <p:cNvPr id="352" name="Google Shape;352;p23"/>
          <p:cNvSpPr txBox="1"/>
          <p:nvPr/>
        </p:nvSpPr>
        <p:spPr>
          <a:xfrm>
            <a:off x="7325900" y="4322600"/>
            <a:ext cx="31053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180/180 eventos</a:t>
            </a:r>
            <a:endParaRPr sz="1800"/>
          </a:p>
        </p:txBody>
      </p:sp>
      <p:sp>
        <p:nvSpPr>
          <p:cNvPr id="353" name="Google Shape;353;p23"/>
          <p:cNvSpPr txBox="1"/>
          <p:nvPr/>
        </p:nvSpPr>
        <p:spPr>
          <a:xfrm>
            <a:off x="1557225" y="4061525"/>
            <a:ext cx="3105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Média harmônica entre a Precisão e a Sensibilidade (Recall). 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8" name="Google Shape;35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9" name="Google Shape;35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5772150"/>
            <a:ext cx="11125200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0" name="Google Shape;360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3400" y="528637"/>
            <a:ext cx="282326" cy="2857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61" name="Google Shape;361;p24"/>
          <p:cNvGraphicFramePr/>
          <p:nvPr/>
        </p:nvGraphicFramePr>
        <p:xfrm>
          <a:off x="533400" y="204311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{B9323202-4CFE-4187-9247-4E3E6D2A29D7}</a:tableStyleId>
              </a:tblPr>
              <a:tblGrid>
                <a:gridCol w="4033550"/>
                <a:gridCol w="1853200"/>
                <a:gridCol w="1975850"/>
                <a:gridCol w="3243550"/>
              </a:tblGrid>
              <a:tr h="521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25" u="none" cap="none" strike="noStrike">
                          <a:solidFill>
                            <a:srgbClr val="FFFFFF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Abordagem Avaliada</a:t>
                      </a:r>
                      <a:endParaRPr sz="18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25" u="none" cap="none" strike="noStrike">
                          <a:solidFill>
                            <a:srgbClr val="FFFFFF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Sensibilidade</a:t>
                      </a:r>
                      <a:endParaRPr sz="18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25" u="none" cap="none" strike="noStrike">
                          <a:solidFill>
                            <a:srgbClr val="FFFFFF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Especificidade</a:t>
                      </a:r>
                      <a:endParaRPr sz="18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25" u="none" cap="none" strike="noStrike">
                          <a:solidFill>
                            <a:srgbClr val="FFFFFF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Garantia de Privacidade</a:t>
                      </a:r>
                      <a:endParaRPr sz="18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521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Dispositivos Vestíveis</a:t>
                      </a:r>
                      <a:r>
                        <a:rPr b="0" i="0" lang="en-US" sz="14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(Acelerômetros)</a:t>
                      </a:r>
                      <a:endParaRPr sz="18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85% – 95%</a:t>
                      </a:r>
                      <a:endParaRPr sz="18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90% – 95%</a:t>
                      </a:r>
                      <a:endParaRPr sz="18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1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Sensores de Ambiente</a:t>
                      </a:r>
                      <a:r>
                        <a:rPr b="0" i="0" lang="en-US" sz="14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(Piso/RADAR)</a:t>
                      </a:r>
                      <a:endParaRPr sz="18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80% – 90%</a:t>
                      </a:r>
                      <a:endParaRPr sz="18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85% – 92%</a:t>
                      </a:r>
                      <a:endParaRPr sz="18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21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Visão Computacional</a:t>
                      </a:r>
                      <a:r>
                        <a:rPr b="0" i="0" lang="en-US" sz="14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(Nuvem)</a:t>
                      </a:r>
                      <a:endParaRPr sz="18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90% – 98%</a:t>
                      </a:r>
                      <a:endParaRPr sz="18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92% – 97%</a:t>
                      </a:r>
                      <a:endParaRPr sz="18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1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50" u="none" cap="none" strike="noStrike">
                          <a:solidFill>
                            <a:srgbClr val="2563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NOSSO SISTEMA</a:t>
                      </a:r>
                      <a:endParaRPr sz="1800"/>
                    </a:p>
                  </a:txBody>
                  <a:tcPr marT="25400" marB="25400" marR="63500" marL="2762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50" u="none" cap="none" strike="noStrike">
                          <a:solidFill>
                            <a:srgbClr val="16653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100%</a:t>
                      </a:r>
                      <a:endParaRPr sz="18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50">
                          <a:solidFill>
                            <a:srgbClr val="16653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85</a:t>
                      </a:r>
                      <a:r>
                        <a:rPr b="1" i="0" lang="en-US" sz="1450" u="none" cap="none" strike="noStrike">
                          <a:solidFill>
                            <a:srgbClr val="16653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%</a:t>
                      </a:r>
                      <a:endParaRPr sz="18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25400" marB="25400" marR="63500" marL="2190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362" name="Google Shape;362;p24"/>
          <p:cNvSpPr txBox="1"/>
          <p:nvPr/>
        </p:nvSpPr>
        <p:spPr>
          <a:xfrm>
            <a:off x="733425" y="5810250"/>
            <a:ext cx="107061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Destaque: O modelo proposto superou as abordagens clássicas da literatura em taxa de precisão, eliminação de falsos positivos e preservação rigorosa da privacidade.</a:t>
            </a:r>
            <a:endParaRPr sz="1700"/>
          </a:p>
        </p:txBody>
      </p:sp>
      <p:sp>
        <p:nvSpPr>
          <p:cNvPr id="363" name="Google Shape;363;p24"/>
          <p:cNvSpPr/>
          <p:nvPr/>
        </p:nvSpPr>
        <p:spPr>
          <a:xfrm>
            <a:off x="542925" y="2533650"/>
            <a:ext cx="403353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4"/>
          <p:cNvSpPr/>
          <p:nvPr/>
        </p:nvSpPr>
        <p:spPr>
          <a:xfrm>
            <a:off x="4576464" y="2533650"/>
            <a:ext cx="18532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4"/>
          <p:cNvSpPr/>
          <p:nvPr/>
        </p:nvSpPr>
        <p:spPr>
          <a:xfrm>
            <a:off x="6429672" y="2533650"/>
            <a:ext cx="19758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4"/>
          <p:cNvSpPr/>
          <p:nvPr/>
        </p:nvSpPr>
        <p:spPr>
          <a:xfrm>
            <a:off x="8405514" y="2533650"/>
            <a:ext cx="32435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4"/>
          <p:cNvSpPr/>
          <p:nvPr/>
        </p:nvSpPr>
        <p:spPr>
          <a:xfrm>
            <a:off x="542925" y="3057525"/>
            <a:ext cx="403353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4"/>
          <p:cNvSpPr/>
          <p:nvPr/>
        </p:nvSpPr>
        <p:spPr>
          <a:xfrm>
            <a:off x="4576464" y="3057525"/>
            <a:ext cx="18532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4"/>
          <p:cNvSpPr/>
          <p:nvPr/>
        </p:nvSpPr>
        <p:spPr>
          <a:xfrm>
            <a:off x="6429672" y="3057525"/>
            <a:ext cx="19758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4"/>
          <p:cNvSpPr/>
          <p:nvPr/>
        </p:nvSpPr>
        <p:spPr>
          <a:xfrm>
            <a:off x="8405514" y="3057525"/>
            <a:ext cx="32435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4"/>
          <p:cNvSpPr/>
          <p:nvPr/>
        </p:nvSpPr>
        <p:spPr>
          <a:xfrm>
            <a:off x="542925" y="3581400"/>
            <a:ext cx="403353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4"/>
          <p:cNvSpPr/>
          <p:nvPr/>
        </p:nvSpPr>
        <p:spPr>
          <a:xfrm>
            <a:off x="4576464" y="3581400"/>
            <a:ext cx="18532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4"/>
          <p:cNvSpPr/>
          <p:nvPr/>
        </p:nvSpPr>
        <p:spPr>
          <a:xfrm>
            <a:off x="6429672" y="3581400"/>
            <a:ext cx="19758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4"/>
          <p:cNvSpPr/>
          <p:nvPr/>
        </p:nvSpPr>
        <p:spPr>
          <a:xfrm>
            <a:off x="8405514" y="3581400"/>
            <a:ext cx="32435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4"/>
          <p:cNvSpPr/>
          <p:nvPr/>
        </p:nvSpPr>
        <p:spPr>
          <a:xfrm>
            <a:off x="542925" y="4105275"/>
            <a:ext cx="403353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4"/>
          <p:cNvSpPr/>
          <p:nvPr/>
        </p:nvSpPr>
        <p:spPr>
          <a:xfrm>
            <a:off x="4576464" y="4105275"/>
            <a:ext cx="18532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4"/>
          <p:cNvSpPr/>
          <p:nvPr/>
        </p:nvSpPr>
        <p:spPr>
          <a:xfrm>
            <a:off x="6429672" y="4105275"/>
            <a:ext cx="19758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4"/>
          <p:cNvSpPr/>
          <p:nvPr/>
        </p:nvSpPr>
        <p:spPr>
          <a:xfrm>
            <a:off x="8405514" y="4105275"/>
            <a:ext cx="32435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79" name="Google Shape;379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5434" y="4300537"/>
            <a:ext cx="16192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24"/>
          <p:cNvSpPr txBox="1"/>
          <p:nvPr/>
        </p:nvSpPr>
        <p:spPr>
          <a:xfrm>
            <a:off x="949076" y="457200"/>
            <a:ext cx="11242923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Nosso Sistema vs. Literatura</a:t>
            </a:r>
            <a:endParaRPr/>
          </a:p>
        </p:txBody>
      </p:sp>
      <p:sp>
        <p:nvSpPr>
          <p:cNvPr id="381" name="Google Shape;381;p24"/>
          <p:cNvSpPr/>
          <p:nvPr/>
        </p:nvSpPr>
        <p:spPr>
          <a:xfrm>
            <a:off x="8749925" y="2657400"/>
            <a:ext cx="1131300" cy="285900"/>
          </a:xfrm>
          <a:prstGeom prst="roundRect">
            <a:avLst>
              <a:gd fmla="val 50000" name="adj"/>
            </a:avLst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Baixa</a:t>
            </a:r>
            <a:endParaRPr b="1" sz="800">
              <a:solidFill>
                <a:srgbClr val="99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4"/>
          <p:cNvSpPr/>
          <p:nvPr/>
        </p:nvSpPr>
        <p:spPr>
          <a:xfrm>
            <a:off x="8749925" y="3766950"/>
            <a:ext cx="1131300" cy="285900"/>
          </a:xfrm>
          <a:prstGeom prst="roundRect">
            <a:avLst>
              <a:gd fmla="val 50000" name="adj"/>
            </a:avLst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Baixa</a:t>
            </a:r>
            <a:endParaRPr b="1" sz="800">
              <a:solidFill>
                <a:srgbClr val="99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4"/>
          <p:cNvSpPr/>
          <p:nvPr/>
        </p:nvSpPr>
        <p:spPr>
          <a:xfrm>
            <a:off x="8749925" y="3181275"/>
            <a:ext cx="1131300" cy="285900"/>
          </a:xfrm>
          <a:prstGeom prst="roundRect">
            <a:avLst>
              <a:gd fmla="val 50000" name="adj"/>
            </a:avLst>
          </a:prstGeom>
          <a:solidFill>
            <a:srgbClr val="FFE5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B45F06"/>
                </a:solidFill>
                <a:latin typeface="Calibri"/>
                <a:ea typeface="Calibri"/>
                <a:cs typeface="Calibri"/>
                <a:sym typeface="Calibri"/>
              </a:rPr>
              <a:t>Média</a:t>
            </a:r>
            <a:endParaRPr b="1" sz="800">
              <a:solidFill>
                <a:srgbClr val="B45F0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4"/>
          <p:cNvSpPr/>
          <p:nvPr/>
        </p:nvSpPr>
        <p:spPr>
          <a:xfrm>
            <a:off x="8749925" y="4276650"/>
            <a:ext cx="1131300" cy="285900"/>
          </a:xfrm>
          <a:prstGeom prst="roundRect">
            <a:avLst>
              <a:gd fmla="val 50000" name="adj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38761D"/>
                </a:solidFill>
                <a:latin typeface="Calibri"/>
                <a:ea typeface="Calibri"/>
                <a:cs typeface="Calibri"/>
                <a:sym typeface="Calibri"/>
              </a:rPr>
              <a:t>ALTA</a:t>
            </a:r>
            <a:endParaRPr b="1" sz="800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89" name="Google Shape;38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0" name="Google Shape;39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1114425"/>
            <a:ext cx="5410200" cy="5286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1" name="Google Shape;391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48400" y="1114425"/>
            <a:ext cx="5410200" cy="5286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2" name="Google Shape;392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3400" y="528637"/>
            <a:ext cx="244226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25"/>
          <p:cNvSpPr txBox="1"/>
          <p:nvPr/>
        </p:nvSpPr>
        <p:spPr>
          <a:xfrm>
            <a:off x="859725" y="1322275"/>
            <a:ext cx="51006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2563E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Principais Contribuições</a:t>
            </a:r>
            <a:endParaRPr sz="1700"/>
          </a:p>
        </p:txBody>
      </p:sp>
      <p:sp>
        <p:nvSpPr>
          <p:cNvPr id="394" name="Google Shape;394;p25"/>
          <p:cNvSpPr txBox="1"/>
          <p:nvPr/>
        </p:nvSpPr>
        <p:spPr>
          <a:xfrm>
            <a:off x="6655425" y="1340325"/>
            <a:ext cx="51006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50" u="none" cap="none" strike="noStrike">
                <a:solidFill>
                  <a:srgbClr val="0D948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Trabalhos Futuros</a:t>
            </a:r>
            <a:endParaRPr sz="1800"/>
          </a:p>
        </p:txBody>
      </p:sp>
      <p:pic>
        <p:nvPicPr>
          <p:cNvPr descr="image.png" id="395" name="Google Shape;395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50419" y="1399147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25"/>
          <p:cNvSpPr txBox="1"/>
          <p:nvPr/>
        </p:nvSpPr>
        <p:spPr>
          <a:xfrm>
            <a:off x="1152525" y="1743075"/>
            <a:ext cx="4515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Sistema passivo e não-invasivo (sem vestíveis).</a:t>
            </a:r>
            <a:endParaRPr sz="1700"/>
          </a:p>
        </p:txBody>
      </p:sp>
      <p:sp>
        <p:nvSpPr>
          <p:cNvPr id="397" name="Google Shape;397;p25"/>
          <p:cNvSpPr txBox="1"/>
          <p:nvPr/>
        </p:nvSpPr>
        <p:spPr>
          <a:xfrm>
            <a:off x="1152525" y="2012825"/>
            <a:ext cx="45150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100% de sensibilidade e 85% especificidade nos testes.</a:t>
            </a:r>
            <a:endParaRPr sz="1700"/>
          </a:p>
        </p:txBody>
      </p:sp>
      <p:sp>
        <p:nvSpPr>
          <p:cNvPr id="398" name="Google Shape;398;p25"/>
          <p:cNvSpPr txBox="1"/>
          <p:nvPr/>
        </p:nvSpPr>
        <p:spPr>
          <a:xfrm>
            <a:off x="1152525" y="2584463"/>
            <a:ext cx="45150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Privacidade total com Edge Computing </a:t>
            </a:r>
            <a:r>
              <a:rPr lang="en-US" sz="15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 baixa latência 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(&lt; 50 ms).</a:t>
            </a:r>
            <a:endParaRPr sz="1700"/>
          </a:p>
        </p:txBody>
      </p:sp>
      <p:sp>
        <p:nvSpPr>
          <p:cNvPr id="399" name="Google Shape;399;p25"/>
          <p:cNvSpPr txBox="1"/>
          <p:nvPr/>
        </p:nvSpPr>
        <p:spPr>
          <a:xfrm>
            <a:off x="1152525" y="3161680"/>
            <a:ext cx="4515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Hardware de baixo custo para adoção em escala.</a:t>
            </a:r>
            <a:endParaRPr sz="1700"/>
          </a:p>
        </p:txBody>
      </p:sp>
      <p:sp>
        <p:nvSpPr>
          <p:cNvPr id="400" name="Google Shape;400;p25"/>
          <p:cNvSpPr txBox="1"/>
          <p:nvPr/>
        </p:nvSpPr>
        <p:spPr>
          <a:xfrm>
            <a:off x="1152525" y="3557567"/>
            <a:ext cx="4515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Validado diretamente com usuários finais e cuidadores.</a:t>
            </a:r>
            <a:endParaRPr sz="1800"/>
          </a:p>
        </p:txBody>
      </p:sp>
      <p:pic>
        <p:nvPicPr>
          <p:cNvPr descr="image.png" id="401" name="Google Shape;401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55552" y="1428750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25"/>
          <p:cNvSpPr txBox="1"/>
          <p:nvPr/>
        </p:nvSpPr>
        <p:spPr>
          <a:xfrm>
            <a:off x="6867525" y="1743075"/>
            <a:ext cx="45150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Testes em larga escala 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em Instituições de Longa Permanência (ILPIs).</a:t>
            </a:r>
            <a:endParaRPr sz="1700"/>
          </a:p>
        </p:txBody>
      </p:sp>
      <p:sp>
        <p:nvSpPr>
          <p:cNvPr id="403" name="Google Shape;403;p25"/>
          <p:cNvSpPr txBox="1"/>
          <p:nvPr/>
        </p:nvSpPr>
        <p:spPr>
          <a:xfrm>
            <a:off x="6867525" y="2352675"/>
            <a:ext cx="46764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Integração direta com chamadas de emergência (SMS / App).</a:t>
            </a:r>
            <a:endParaRPr sz="1700"/>
          </a:p>
        </p:txBody>
      </p:sp>
      <p:sp>
        <p:nvSpPr>
          <p:cNvPr id="404" name="Google Shape;404;p25"/>
          <p:cNvSpPr txBox="1"/>
          <p:nvPr/>
        </p:nvSpPr>
        <p:spPr>
          <a:xfrm>
            <a:off x="6817438" y="3012750"/>
            <a:ext cx="45150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Otimização em hardware embarcado (Raspberry Pi / Google Coral).</a:t>
            </a:r>
            <a:endParaRPr sz="1700"/>
          </a:p>
        </p:txBody>
      </p:sp>
      <p:sp>
        <p:nvSpPr>
          <p:cNvPr id="405" name="Google Shape;405;p25"/>
          <p:cNvSpPr txBox="1"/>
          <p:nvPr/>
        </p:nvSpPr>
        <p:spPr>
          <a:xfrm>
            <a:off x="6867525" y="3672813"/>
            <a:ext cx="45150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Interface amigável para gestão de alertas por cuidadores.</a:t>
            </a:r>
            <a:endParaRPr sz="1700"/>
          </a:p>
        </p:txBody>
      </p:sp>
      <p:pic>
        <p:nvPicPr>
          <p:cNvPr descr="image.png" id="406" name="Google Shape;406;p2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09625" y="175736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7" name="Google Shape;407;p2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09625" y="213836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8" name="Google Shape;408;p2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09625" y="251936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9" name="Google Shape;409;p2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09625" y="3077979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0" name="Google Shape;410;p2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09625" y="3458979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1" name="Google Shape;411;p2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24625" y="175736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2" name="Google Shape;412;p2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24625" y="236696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3" name="Google Shape;413;p2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24625" y="274796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4" name="Google Shape;414;p2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24625" y="3357562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25"/>
          <p:cNvSpPr txBox="1"/>
          <p:nvPr/>
        </p:nvSpPr>
        <p:spPr>
          <a:xfrm>
            <a:off x="910976" y="457200"/>
            <a:ext cx="11281023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Conclusão e Próximos Passos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20" name="Google Shape;42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1" name="Google Shape;421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47887" y="3581400"/>
            <a:ext cx="7896225" cy="561975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26"/>
          <p:cNvSpPr txBox="1"/>
          <p:nvPr/>
        </p:nvSpPr>
        <p:spPr>
          <a:xfrm>
            <a:off x="4660820" y="2171700"/>
            <a:ext cx="2870358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Obrigado!</a:t>
            </a:r>
            <a:endParaRPr/>
          </a:p>
        </p:txBody>
      </p:sp>
      <p:sp>
        <p:nvSpPr>
          <p:cNvPr id="423" name="Google Shape;423;p26"/>
          <p:cNvSpPr txBox="1"/>
          <p:nvPr/>
        </p:nvSpPr>
        <p:spPr>
          <a:xfrm>
            <a:off x="3176587" y="2952750"/>
            <a:ext cx="58389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r>
              <a:rPr b="0" i="0" lang="en-US" sz="18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bert</a:t>
            </a:r>
            <a:r>
              <a:rPr lang="en-US" sz="18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o</a:t>
            </a:r>
            <a:r>
              <a:rPr b="0" i="0" lang="en-US" sz="18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para perguntas e considerações.</a:t>
            </a:r>
            <a:endParaRPr b="0" i="0" sz="1800" u="none" cap="none" strike="noStrike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4" name="Google Shape;424;p26"/>
          <p:cNvSpPr txBox="1"/>
          <p:nvPr/>
        </p:nvSpPr>
        <p:spPr>
          <a:xfrm>
            <a:off x="2690799" y="3781425"/>
            <a:ext cx="2095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a.eduarda@aluno.ufabc.edu.br</a:t>
            </a:r>
            <a:endParaRPr/>
          </a:p>
        </p:txBody>
      </p:sp>
      <p:sp>
        <p:nvSpPr>
          <p:cNvPr id="425" name="Google Shape;425;p26"/>
          <p:cNvSpPr txBox="1"/>
          <p:nvPr/>
        </p:nvSpPr>
        <p:spPr>
          <a:xfrm>
            <a:off x="5110149" y="3781425"/>
            <a:ext cx="1983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souza.p@aluno.ufabc.edu.br</a:t>
            </a:r>
            <a:endParaRPr/>
          </a:p>
        </p:txBody>
      </p:sp>
      <p:sp>
        <p:nvSpPr>
          <p:cNvPr id="426" name="Google Shape;426;p26"/>
          <p:cNvSpPr txBox="1"/>
          <p:nvPr/>
        </p:nvSpPr>
        <p:spPr>
          <a:xfrm>
            <a:off x="7396149" y="3781425"/>
            <a:ext cx="2451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paloma.santana@aluno.ufabc.edu.br</a:t>
            </a:r>
            <a:endParaRPr/>
          </a:p>
        </p:txBody>
      </p:sp>
      <p:pic>
        <p:nvPicPr>
          <p:cNvPr descr="image.png" id="427" name="Google Shape;427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62212" y="3795712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8" name="Google Shape;428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81562" y="3795712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9" name="Google Shape;429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67562" y="3795712"/>
            <a:ext cx="13335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26"/>
          <p:cNvSpPr txBox="1"/>
          <p:nvPr/>
        </p:nvSpPr>
        <p:spPr>
          <a:xfrm>
            <a:off x="3735550" y="4541150"/>
            <a:ext cx="6112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Link do Projeto:</a:t>
            </a:r>
            <a:r>
              <a:rPr lang="en-US" sz="1100">
                <a:solidFill>
                  <a:schemeClr val="dk1"/>
                </a:solidFill>
              </a:rPr>
              <a:t> (</a:t>
            </a:r>
            <a:r>
              <a:rPr lang="en-US" sz="1100" u="sng">
                <a:solidFill>
                  <a:schemeClr val="hlink"/>
                </a:solidFill>
                <a:latin typeface="Roboto Mono"/>
                <a:ea typeface="Roboto Mono"/>
                <a:cs typeface="Roboto Mono"/>
                <a:sym typeface="Roboto Mono"/>
                <a:hlinkClick r:id="rId6"/>
              </a:rPr>
              <a:t>https://pahsantana.github.io/LAB-CV2026.2/</a:t>
            </a:r>
            <a:r>
              <a:rPr lang="en-US" sz="1100">
                <a:solidFill>
                  <a:schemeClr val="dk1"/>
                </a:solidFill>
              </a:rPr>
              <a:t>)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